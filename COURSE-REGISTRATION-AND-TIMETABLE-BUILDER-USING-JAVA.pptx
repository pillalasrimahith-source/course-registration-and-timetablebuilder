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Krona One"/>
      <p:regular r:id="rId201314"/>
    </p:embeddedFont>
    <p:embeddedFont>
      <p:font typeface="Lexend"/>
      <p:regular r:id="rId201315"/>
    </p:embeddedFont>
    <p:embeddedFont>
      <p:font typeface="Lexend Medium"/>
      <p:regular r:id="rId201316"/>
    </p:embeddedFont>
    <p:embeddedFont>
      <p:font typeface="Lexend SemiBold"/>
      <p:regular r:id="rId201317"/>
    </p:embeddedFont>
    <p:embeddedFont>
      <p:font typeface="Lexend Bold"/>
      <p:regular r:id="rId201318"/>
    </p:embeddedFont>
    <p:embeddedFont>
      <p:font typeface="Martian Mono Medium"/>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a console-based Java system for selecting courses, validating registrations, building a timetable, and saving records. Replace the placeholders with the student and institution details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around coordination rather than data entry alone. The system must prevent duplicate subjects, expose time clashes, and make credits visible while the student registers.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project boundary: this is a Java course-management workflow with validation, timetable generation, and text-file persistence. It does not claim a database, GUI, or authentication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from left to right. The important design choice is that registration happens only after the course ID, duplicate status, and time clash have been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module to connect the real-world task to Java fundamentals. The Scanner example captures the student ID and name; later methods apply validation and registration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three decisions: is the course valid, is it already registered, and does its time clash with an existing course? Only the successful branch reaches the updated timetable.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switch uses Java 11-compatible syntax. The while loop keeps the menu active, break exits the loop or switch branch, and continue can skip an invalid entry without stopping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each method has one responsibility. A clear return value avoids duplicating logic and makes the expected behavior easier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 object owns registration behavior and holds references to Course objects. Private fields, constructors, getters, this, toString(), and object references keep the model organized and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separating three error categories. Compilation errors stop the program from building, runtime exceptions interrupt execution, and logical errors produce the wrong result. Validation turns those failures into understandable user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3" Type="http://schemas.openxmlformats.org/officeDocument/2006/relationships/image" Target="../media/image-1002-3.png"/><Relationship Id="rI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3.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15154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p:cNvPr>
          <p:cNvPicPr>
            <a:picLocks noChangeAspect="1"/>
          </p:cNvPicPr>
          <p:nvPr/>
        </p:nvPicPr>
        <p:blipFill>
          <a:blip r:embed="rId2"/>
          <a:stretch>
            <a:fillRect/>
          </a:stretch>
        </p:blipFill>
        <p:spPr>
          <a:xfrm>
            <a:off x="0" y="0"/>
            <a:ext cx="12191695" cy="6858000"/>
          </a:xfrm>
          <a:prstGeom prst="rect">
            <a:avLst/>
          </a:prstGeom>
        </p:spPr>
      </p:pic>
      <p:pic>
        <p:nvPicPr>
          <p:cNvPr id="4" name="Image 2" descr="preencoded.png">
            <a:hlinkClick r:id="rId4" tooltip=""/>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15154C"/>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87380" y="982345"/>
            <a:ext cx="6680033"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FFFFFF"/>
                </a:solidFill>
                <a:latin typeface="Martian Mono Medium" pitchFamily="34" charset="0"/>
                <a:ea typeface="Martian Mono Medium" pitchFamily="34" charset="-122"/>
                <a:cs typeface="Martian Mono Medium" pitchFamily="34" charset="-120"/>
              </a:rPr>
              <a:t>JAVA PROGRAMMING · PROJECT REVIEW</a:t>
            </a:r>
            <a:endParaRPr lang="en-US" sz="1300" dirty="0"/>
          </a:p>
        </p:txBody>
      </p:sp>
      <p:sp>
        <p:nvSpPr>
          <p:cNvPr id="3" name="Text 1"/>
          <p:cNvSpPr/>
          <p:nvPr/>
        </p:nvSpPr>
        <p:spPr>
          <a:xfrm>
            <a:off x="787380" y="1322175"/>
            <a:ext cx="6070448" cy="2605980"/>
          </a:xfrm>
          <a:prstGeom prst="rect">
            <a:avLst/>
          </a:prstGeom>
          <a:noFill/>
          <a:ln/>
        </p:spPr>
        <p:txBody>
          <a:bodyPr wrap="square" lIns="0" tIns="0" rIns="0" bIns="0" rtlCol="0" anchor="t">
            <a:normAutofit/>
          </a:bodyPr>
          <a:lstStyle/>
          <a:p>
            <a:pPr algn="l" indent="0" marL="0">
              <a:lnSpc>
                <a:spcPct val="90000"/>
              </a:lnSpc>
              <a:buNone/>
            </a:pPr>
            <a:r>
              <a:rPr lang="en-US" sz="3800" spc="-38" kern="100" dirty="0">
                <a:solidFill>
                  <a:srgbClr val="FFFFFF"/>
                </a:solidFill>
                <a:latin typeface="Krona One" pitchFamily="34" charset="0"/>
                <a:ea typeface="Krona One" pitchFamily="34" charset="-122"/>
                <a:cs typeface="Krona One" pitchFamily="34" charset="-120"/>
              </a:rPr>
              <a:t>COURSE</a:t>
            </a:r>
            <a:endParaRPr lang="en-US" sz="3800" dirty="0"/>
          </a:p>
          <a:p>
            <a:pPr algn="l" indent="0" marL="0">
              <a:lnSpc>
                <a:spcPct val="90000"/>
              </a:lnSpc>
              <a:buNone/>
            </a:pPr>
            <a:r>
              <a:rPr lang="en-US" sz="3800" spc="-38" kern="100" dirty="0">
                <a:solidFill>
                  <a:srgbClr val="FFFFFF"/>
                </a:solidFill>
                <a:latin typeface="Krona One" pitchFamily="34" charset="0"/>
                <a:ea typeface="Krona One" pitchFamily="34" charset="-122"/>
                <a:cs typeface="Krona One" pitchFamily="34" charset="-120"/>
              </a:rPr>
              <a:t>REGISTRATION</a:t>
            </a:r>
            <a:endParaRPr lang="en-US" sz="3800" dirty="0"/>
          </a:p>
          <a:p>
            <a:pPr algn="l" indent="0" marL="0">
              <a:lnSpc>
                <a:spcPct val="90000"/>
              </a:lnSpc>
              <a:buNone/>
            </a:pPr>
            <a:r>
              <a:rPr lang="en-US" sz="3800" spc="-38" kern="100" dirty="0">
                <a:solidFill>
                  <a:srgbClr val="FFFFFF"/>
                </a:solidFill>
                <a:latin typeface="Krona One" pitchFamily="34" charset="0"/>
                <a:ea typeface="Krona One" pitchFamily="34" charset="-122"/>
                <a:cs typeface="Krona One" pitchFamily="34" charset="-120"/>
              </a:rPr>
              <a:t>AND TIMETABLE</a:t>
            </a:r>
            <a:endParaRPr lang="en-US" sz="3800" dirty="0"/>
          </a:p>
          <a:p>
            <a:pPr algn="l" indent="0" marL="0">
              <a:lnSpc>
                <a:spcPct val="90000"/>
              </a:lnSpc>
              <a:buNone/>
            </a:pPr>
            <a:r>
              <a:rPr lang="en-US" sz="3800" spc="-38" kern="100" dirty="0">
                <a:solidFill>
                  <a:srgbClr val="FFFFFF"/>
                </a:solidFill>
                <a:latin typeface="Krona One" pitchFamily="34" charset="0"/>
                <a:ea typeface="Krona One" pitchFamily="34" charset="-122"/>
                <a:cs typeface="Krona One" pitchFamily="34" charset="-120"/>
              </a:rPr>
              <a:t>BUILDER USING JAVA</a:t>
            </a:r>
            <a:endParaRPr lang="en-US" sz="3800" dirty="0"/>
          </a:p>
        </p:txBody>
      </p:sp>
      <p:sp>
        <p:nvSpPr>
          <p:cNvPr id="4" name="Text 2"/>
          <p:cNvSpPr/>
          <p:nvPr/>
        </p:nvSpPr>
        <p:spPr>
          <a:xfrm>
            <a:off x="787380" y="4206101"/>
            <a:ext cx="6070448" cy="822920"/>
          </a:xfrm>
          <a:prstGeom prst="rect">
            <a:avLst/>
          </a:prstGeom>
          <a:noFill/>
          <a:ln/>
        </p:spPr>
        <p:txBody>
          <a:bodyPr wrap="square" lIns="0" tIns="0" rIns="0" bIns="0" rtlCol="0" anchor="t">
            <a:normAutofit/>
          </a:bodyPr>
          <a:lstStyle/>
          <a:p>
            <a:pPr algn="l" indent="0" marL="0">
              <a:lnSpc>
                <a:spcPct val="113000"/>
              </a:lnSpc>
              <a:buNone/>
            </a:pPr>
            <a:r>
              <a:rPr lang="en-US" sz="2400" dirty="0">
                <a:solidFill>
                  <a:srgbClr val="FFFFFF"/>
                </a:solidFill>
                <a:latin typeface="Lexend" pitchFamily="34" charset="0"/>
                <a:ea typeface="Lexend" pitchFamily="34" charset="-122"/>
                <a:cs typeface="Lexend" pitchFamily="34" charset="-120"/>
              </a:rPr>
              <a:t>A Java-based student course management system</a:t>
            </a:r>
            <a:endParaRPr lang="en-US" sz="2400" dirty="0"/>
          </a:p>
        </p:txBody>
      </p:sp>
      <p:sp>
        <p:nvSpPr>
          <p:cNvPr id="5" name="Text 3"/>
          <p:cNvSpPr/>
          <p:nvPr/>
        </p:nvSpPr>
        <p:spPr>
          <a:xfrm>
            <a:off x="787380" y="5331281"/>
            <a:ext cx="6070448" cy="462161"/>
          </a:xfrm>
          <a:prstGeom prst="rect">
            <a:avLst/>
          </a:prstGeom>
          <a:noFill/>
          <a:ln/>
        </p:spPr>
        <p:txBody>
          <a:bodyPr wrap="square" lIns="0" tIns="0" rIns="0" bIns="0" rtlCol="0" anchor="t">
            <a:normAutofit/>
          </a:bodyPr>
          <a:lstStyle/>
          <a:p>
            <a:pPr algn="l" indent="0" marL="0">
              <a:lnSpc>
                <a:spcPct val="108000"/>
              </a:lnSpc>
              <a:buNone/>
            </a:pPr>
            <a:r>
              <a:rPr lang="en-US" sz="1400" spc="14" kern="100" dirty="0">
                <a:solidFill>
                  <a:srgbClr val="FFFFFF"/>
                </a:solidFill>
                <a:latin typeface="Lexend" pitchFamily="34" charset="0"/>
                <a:ea typeface="Lexend" pitchFamily="34" charset="-122"/>
                <a:cs typeface="Lexend" pitchFamily="34" charset="-120"/>
              </a:rPr>
              <a:t>Student names: [Name 1] • [Roll No.] • [Name 2] • [Roll No.]</a:t>
            </a:r>
            <a:endParaRPr lang="en-US" sz="1400" dirty="0"/>
          </a:p>
          <a:p>
            <a:pPr algn="l" indent="0" marL="0">
              <a:lnSpc>
                <a:spcPct val="108000"/>
              </a:lnSpc>
              <a:buNone/>
            </a:pPr>
            <a:r>
              <a:rPr lang="en-US" sz="1400" spc="14" kern="100" dirty="0">
                <a:solidFill>
                  <a:srgbClr val="FFFFFF"/>
                </a:solidFill>
                <a:latin typeface="Lexend" pitchFamily="34" charset="0"/>
                <a:ea typeface="Lexend" pitchFamily="34" charset="-122"/>
                <a:cs typeface="Lexend" pitchFamily="34" charset="-120"/>
              </a:rPr>
              <a:t>[Department] • [College Name] • Java Programming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26745"/>
            <a:ext cx="6822309"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27E0E3"/>
                </a:solidFill>
                <a:latin typeface="Martian Mono Medium" pitchFamily="34" charset="0"/>
                <a:ea typeface="Martian Mono Medium" pitchFamily="34" charset="-122"/>
                <a:cs typeface="Martian Mono Medium" pitchFamily="34" charset="-120"/>
              </a:rPr>
              <a:t>THE PROBLEM</a:t>
            </a:r>
            <a:endParaRPr lang="en-US" sz="1300" dirty="0"/>
          </a:p>
        </p:txBody>
      </p:sp>
      <p:sp>
        <p:nvSpPr>
          <p:cNvPr id="3" name="Text 1"/>
          <p:cNvSpPr/>
          <p:nvPr/>
        </p:nvSpPr>
        <p:spPr>
          <a:xfrm>
            <a:off x="609585" y="946375"/>
            <a:ext cx="6212724" cy="817761"/>
          </a:xfrm>
          <a:prstGeom prst="rect">
            <a:avLst/>
          </a:prstGeom>
          <a:noFill/>
          <a:ln/>
        </p:spPr>
        <p:txBody>
          <a:bodyPr wrap="square" lIns="0" tIns="0" rIns="0" bIns="0" rtlCol="0" anchor="t">
            <a:normAutofit/>
          </a:bodyPr>
          <a:lstStyle/>
          <a:p>
            <a:pPr algn="l" indent="0" marL="0">
              <a:lnSpc>
                <a:spcPct val="96000"/>
              </a:lnSpc>
              <a:buNone/>
            </a:pPr>
            <a:r>
              <a:rPr lang="en-US" sz="2800" spc="-14" kern="100" dirty="0">
                <a:solidFill>
                  <a:srgbClr val="FFFFFF"/>
                </a:solidFill>
                <a:latin typeface="Krona One" pitchFamily="34" charset="0"/>
                <a:ea typeface="Krona One" pitchFamily="34" charset="-122"/>
                <a:cs typeface="Krona One" pitchFamily="34" charset="-120"/>
              </a:rPr>
              <a:t>Manual registration creates avoidable friction</a:t>
            </a:r>
            <a:endParaRPr lang="en-US" sz="2800" dirty="0"/>
          </a:p>
        </p:txBody>
      </p:sp>
      <p:sp>
        <p:nvSpPr>
          <p:cNvPr id="4" name="Text 2"/>
          <p:cNvSpPr/>
          <p:nvPr/>
        </p:nvSpPr>
        <p:spPr>
          <a:xfrm>
            <a:off x="609585" y="2062282"/>
            <a:ext cx="6212724" cy="822920"/>
          </a:xfrm>
          <a:prstGeom prst="rect">
            <a:avLst/>
          </a:prstGeom>
          <a:noFill/>
          <a:ln/>
        </p:spPr>
        <p:txBody>
          <a:bodyPr wrap="square" lIns="0" tIns="0" rIns="0" bIns="0" rtlCol="0" anchor="t">
            <a:normAutofit/>
          </a:bodyPr>
          <a:lstStyle/>
          <a:p>
            <a:pPr algn="l" indent="0" marL="0">
              <a:lnSpc>
                <a:spcPct val="113000"/>
              </a:lnSpc>
              <a:buNone/>
            </a:pPr>
            <a:r>
              <a:rPr lang="en-US" sz="2400" dirty="0">
                <a:solidFill>
                  <a:srgbClr val="E6E9FF"/>
                </a:solidFill>
                <a:latin typeface="Lexend" pitchFamily="34" charset="0"/>
                <a:ea typeface="Lexend" pitchFamily="34" charset="-122"/>
                <a:cs typeface="Lexend" pitchFamily="34" charset="-120"/>
              </a:rPr>
              <a:t>Students choose courses, track credits, and build a workable weekly timetable.</a:t>
            </a:r>
            <a:endParaRPr lang="en-US" sz="2400" dirty="0"/>
          </a:p>
        </p:txBody>
      </p:sp>
      <p:sp>
        <p:nvSpPr>
          <p:cNvPr id="5" name="Text 3"/>
          <p:cNvSpPr/>
          <p:nvPr/>
        </p:nvSpPr>
        <p:spPr>
          <a:xfrm>
            <a:off x="609585" y="3146822"/>
            <a:ext cx="6212724" cy="2621161"/>
          </a:xfrm>
          <a:prstGeom prst="rect">
            <a:avLst/>
          </a:prstGeom>
          <a:noFill/>
          <a:ln/>
        </p:spPr>
        <p:txBody>
          <a:bodyPr wrap="square" lIns="0" tIns="0" rIns="0" bIns="0" rtlCol="0" anchor="t">
            <a:normAutofit/>
          </a:bodyPr>
          <a:lstStyle/>
          <a:p>
            <a:pPr algn="l" marL="487680" indent="-487680">
              <a:lnSpc>
                <a:spcPct val="113000"/>
              </a:lnSpc>
              <a:buSzPct val="100000"/>
              <a:buChar char="•"/>
            </a:pPr>
            <a:r>
              <a:rPr lang="en-US" sz="2400" b="1" dirty="0">
                <a:solidFill>
                  <a:srgbClr val="E6E9FF"/>
                </a:solidFill>
                <a:latin typeface="Lexend Bold" pitchFamily="34" charset="0"/>
                <a:ea typeface="Lexend Bold" pitchFamily="34" charset="-122"/>
                <a:cs typeface="Lexend Bold" pitchFamily="34" charset="-120"/>
              </a:rPr>
              <a:t>Duplicate subjects:</a:t>
            </a:r>
            <a:pPr algn="l" marL="487680" indent="-487680">
              <a:lnSpc>
                <a:spcPct val="113000"/>
              </a:lnSpc>
              <a:buSzPct val="100000"/>
              <a:buChar char="•"/>
            </a:pPr>
            <a:r>
              <a:rPr lang="en-US" sz="2400" dirty="0">
                <a:solidFill>
                  <a:srgbClr val="E6E9FF"/>
                </a:solidFill>
                <a:latin typeface="Lexend" pitchFamily="34" charset="0"/>
                <a:ea typeface="Lexend" pitchFamily="34" charset="-122"/>
                <a:cs typeface="Lexend" pitchFamily="34" charset="-120"/>
              </a:rPr>
              <a:t> a course can be selected more than once.</a:t>
            </a:r>
            <a:endParaRPr lang="en-US" sz="2400" dirty="0"/>
          </a:p>
          <a:p>
            <a:pPr algn="l" marL="487680" indent="-487680">
              <a:lnSpc>
                <a:spcPct val="113000"/>
              </a:lnSpc>
              <a:buSzPct val="100000"/>
              <a:buChar char="•"/>
            </a:pPr>
            <a:r>
              <a:rPr lang="en-US" sz="2400" b="1" dirty="0">
                <a:solidFill>
                  <a:srgbClr val="E6E9FF"/>
                </a:solidFill>
                <a:latin typeface="Lexend Bold" pitchFamily="34" charset="0"/>
                <a:ea typeface="Lexend Bold" pitchFamily="34" charset="-122"/>
                <a:cs typeface="Lexend Bold" pitchFamily="34" charset="-120"/>
              </a:rPr>
              <a:t>Overlapping classes:</a:t>
            </a:r>
            <a:pPr algn="l" marL="487680" indent="-487680">
              <a:lnSpc>
                <a:spcPct val="113000"/>
              </a:lnSpc>
              <a:buSzPct val="100000"/>
              <a:buChar char="•"/>
            </a:pPr>
            <a:r>
              <a:rPr lang="en-US" sz="2400" dirty="0">
                <a:solidFill>
                  <a:srgbClr val="E6E9FF"/>
                </a:solidFill>
                <a:latin typeface="Lexend" pitchFamily="34" charset="0"/>
                <a:ea typeface="Lexend" pitchFamily="34" charset="-122"/>
                <a:cs typeface="Lexend" pitchFamily="34" charset="-120"/>
              </a:rPr>
              <a:t> a valid course choice may still create a time conflict.</a:t>
            </a:r>
            <a:endParaRPr lang="en-US" sz="2400" dirty="0"/>
          </a:p>
          <a:p>
            <a:pPr algn="l" marL="487680" indent="-487680">
              <a:lnSpc>
                <a:spcPct val="113000"/>
              </a:lnSpc>
              <a:buSzPct val="100000"/>
              <a:buChar char="•"/>
            </a:pPr>
            <a:r>
              <a:rPr lang="en-US" sz="2400" b="1" dirty="0">
                <a:solidFill>
                  <a:srgbClr val="E6E9FF"/>
                </a:solidFill>
                <a:latin typeface="Lexend Bold" pitchFamily="34" charset="0"/>
                <a:ea typeface="Lexend Bold" pitchFamily="34" charset="-122"/>
                <a:cs typeface="Lexend Bold" pitchFamily="34" charset="-120"/>
              </a:rPr>
              <a:t>Poor credit visibility:</a:t>
            </a:r>
            <a:pPr algn="l" marL="487680" indent="-487680">
              <a:lnSpc>
                <a:spcPct val="113000"/>
              </a:lnSpc>
              <a:buSzPct val="100000"/>
              <a:buChar char="•"/>
            </a:pPr>
            <a:r>
              <a:rPr lang="en-US" sz="2400" dirty="0">
                <a:solidFill>
                  <a:srgbClr val="E6E9FF"/>
                </a:solidFill>
                <a:latin typeface="Lexend" pitchFamily="34" charset="0"/>
                <a:ea typeface="Lexend" pitchFamily="34" charset="-122"/>
                <a:cs typeface="Lexend" pitchFamily="34" charset="-120"/>
              </a:rPr>
              <a:t> total workload is hard to see clearly.</a:t>
            </a:r>
            <a:endParaRPr lang="en-US" sz="2400" dirty="0"/>
          </a:p>
        </p:txBody>
      </p:sp>
      <p:sp>
        <p:nvSpPr>
          <p:cNvPr id="6" name="Shape 4"/>
          <p:cNvSpPr/>
          <p:nvPr/>
        </p:nvSpPr>
        <p:spPr>
          <a:xfrm>
            <a:off x="7888983" y="0"/>
            <a:ext cx="4302712" cy="6858000"/>
          </a:xfrm>
          <a:prstGeom prst="roundRect">
            <a:avLst>
              <a:gd name="adj" fmla="val 3542"/>
            </a:avLst>
          </a:prstGeom>
          <a:noFill/>
          <a:ln w="19050">
            <a:solidFill>
              <a:srgbClr val="2878FF"/>
            </a:solidFill>
            <a:prstDash val="solid"/>
          </a:ln>
          <a:effectLst>
            <a:outerShdw sx="100000" sy="100000" kx="0" ky="0" algn="bl" rotWithShape="0" blurRad="201930" dist="127" dir="16200000">
              <a:srgbClr val="2878ff">
                <a:alpha val="40000"/>
              </a:srgbClr>
            </a:outerShdw>
          </a:effectLst>
        </p:spPr>
      </p:sp>
      <p:pic>
        <p:nvPicPr>
          <p:cNvPr id="7" name="Image 0" descr="preencoded.png">    </p:cNvPr>
          <p:cNvPicPr>
            <a:picLocks noChangeAspect="1"/>
          </p:cNvPicPr>
          <p:nvPr/>
        </p:nvPicPr>
        <p:blipFill>
          <a:blip r:embed="rId1"/>
          <a:stretch>
            <a:fillRect/>
          </a:stretch>
        </p:blipFill>
        <p:spPr>
          <a:xfrm>
            <a:off x="7908033" y="19050"/>
            <a:ext cx="4264613" cy="68199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26745"/>
            <a:ext cx="11582110"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27E0E3"/>
                </a:solidFill>
                <a:latin typeface="Martian Mono Medium" pitchFamily="34" charset="0"/>
                <a:ea typeface="Martian Mono Medium" pitchFamily="34" charset="-122"/>
                <a:cs typeface="Martian Mono Medium" pitchFamily="34" charset="-120"/>
              </a:rPr>
              <a:t>PROJECT AIM</a:t>
            </a:r>
            <a:endParaRPr lang="en-US" sz="1300" dirty="0"/>
          </a:p>
        </p:txBody>
      </p:sp>
      <p:sp>
        <p:nvSpPr>
          <p:cNvPr id="3" name="Text 1"/>
          <p:cNvSpPr/>
          <p:nvPr/>
        </p:nvSpPr>
        <p:spPr>
          <a:xfrm>
            <a:off x="609585" y="946375"/>
            <a:ext cx="10972526" cy="817761"/>
          </a:xfrm>
          <a:prstGeom prst="rect">
            <a:avLst/>
          </a:prstGeom>
          <a:noFill/>
          <a:ln/>
        </p:spPr>
        <p:txBody>
          <a:bodyPr wrap="square" lIns="0" tIns="0" rIns="0" bIns="0" rtlCol="0" anchor="t">
            <a:normAutofit/>
          </a:bodyPr>
          <a:lstStyle/>
          <a:p>
            <a:pPr algn="l" indent="0" marL="0">
              <a:lnSpc>
                <a:spcPct val="96000"/>
              </a:lnSpc>
              <a:buNone/>
            </a:pPr>
            <a:r>
              <a:rPr lang="en-US" sz="2800" spc="-14" kern="100" dirty="0">
                <a:solidFill>
                  <a:srgbClr val="FFFFFF"/>
                </a:solidFill>
                <a:latin typeface="Krona One" pitchFamily="34" charset="0"/>
                <a:ea typeface="Krona One" pitchFamily="34" charset="-122"/>
                <a:cs typeface="Krona One" pitchFamily="34" charset="-120"/>
              </a:rPr>
              <a:t>The project turns registration into a validated workflow</a:t>
            </a:r>
            <a:endParaRPr lang="en-US" sz="2800" dirty="0"/>
          </a:p>
        </p:txBody>
      </p:sp>
      <p:sp>
        <p:nvSpPr>
          <p:cNvPr id="4" name="Text 2"/>
          <p:cNvSpPr/>
          <p:nvPr/>
        </p:nvSpPr>
        <p:spPr>
          <a:xfrm>
            <a:off x="609585" y="2062282"/>
            <a:ext cx="11582110" cy="411460"/>
          </a:xfrm>
          <a:prstGeom prst="rect">
            <a:avLst/>
          </a:prstGeom>
          <a:noFill/>
          <a:ln/>
        </p:spPr>
        <p:txBody>
          <a:bodyPr wrap="none" lIns="0" tIns="0" rIns="0" bIns="0" rtlCol="0" anchor="t"/>
          <a:lstStyle/>
          <a:p>
            <a:pPr algn="l" indent="0" marL="0">
              <a:lnSpc>
                <a:spcPct val="113000"/>
              </a:lnSpc>
              <a:buNone/>
            </a:pPr>
            <a:r>
              <a:rPr lang="en-US" sz="2400" dirty="0">
                <a:solidFill>
                  <a:srgbClr val="E6E9FF"/>
                </a:solidFill>
                <a:latin typeface="Lexend" pitchFamily="34" charset="0"/>
                <a:ea typeface="Lexend" pitchFamily="34" charset="-122"/>
                <a:cs typeface="Lexend" pitchFamily="34" charset="-120"/>
              </a:rPr>
              <a:t>Each action produces a checked result before the next step begins.</a:t>
            </a:r>
            <a:endParaRPr lang="en-US" sz="2400" dirty="0"/>
          </a:p>
        </p:txBody>
      </p:sp>
      <p:sp>
        <p:nvSpPr>
          <p:cNvPr id="5" name="Text 3"/>
          <p:cNvSpPr/>
          <p:nvPr/>
        </p:nvSpPr>
        <p:spPr>
          <a:xfrm>
            <a:off x="609585" y="2735362"/>
            <a:ext cx="1067071" cy="304800"/>
          </a:xfrm>
          <a:prstGeom prst="rect">
            <a:avLst/>
          </a:prstGeom>
          <a:noFill/>
          <a:ln/>
        </p:spPr>
        <p:txBody>
          <a:bodyPr wrap="none" lIns="0" tIns="0" rIns="0" bIns="0" rtlCol="0" anchor="t"/>
          <a:lstStyle/>
          <a:p>
            <a:pPr algn="l" indent="0" marL="0">
              <a:lnSpc>
                <a:spcPct val="83000"/>
              </a:lnSpc>
              <a:buNone/>
            </a:pPr>
            <a:r>
              <a:rPr lang="en-US" sz="2400" dirty="0">
                <a:solidFill>
                  <a:srgbClr val="69A1FF"/>
                </a:solidFill>
                <a:latin typeface="Krona One" pitchFamily="34" charset="0"/>
                <a:ea typeface="Krona One" pitchFamily="34" charset="-122"/>
                <a:cs typeface="Krona One" pitchFamily="34" charset="-120"/>
              </a:rPr>
              <a:t>01</a:t>
            </a:r>
            <a:endParaRPr lang="en-US" sz="2400" dirty="0"/>
          </a:p>
        </p:txBody>
      </p:sp>
      <p:sp>
        <p:nvSpPr>
          <p:cNvPr id="6" name="Shape 4"/>
          <p:cNvSpPr/>
          <p:nvPr/>
        </p:nvSpPr>
        <p:spPr>
          <a:xfrm>
            <a:off x="609585" y="3162102"/>
            <a:ext cx="2400240" cy="19050"/>
          </a:xfrm>
          <a:prstGeom prst="rect">
            <a:avLst/>
          </a:prstGeom>
          <a:solidFill>
            <a:srgbClr val="2878FF"/>
          </a:solidFill>
          <a:ln/>
        </p:spPr>
      </p:sp>
      <p:sp>
        <p:nvSpPr>
          <p:cNvPr id="7" name="Text 5"/>
          <p:cNvSpPr/>
          <p:nvPr/>
        </p:nvSpPr>
        <p:spPr>
          <a:xfrm>
            <a:off x="609585" y="3376712"/>
            <a:ext cx="2400240" cy="330200"/>
          </a:xfrm>
          <a:prstGeom prst="rect">
            <a:avLst/>
          </a:prstGeom>
          <a:noFill/>
          <a:ln/>
        </p:spPr>
        <p:txBody>
          <a:bodyPr wrap="none" lIns="0" tIns="0" rIns="0" bIns="0" rtlCol="0" anchor="t"/>
          <a:lstStyle/>
          <a:p>
            <a:pPr algn="l" indent="0" marL="0">
              <a:lnSpc>
                <a:spcPct val="108000"/>
              </a:lnSpc>
              <a:buNone/>
            </a:pPr>
            <a:r>
              <a:rPr lang="en-US" sz="2000" spc="-10" kern="100" dirty="0">
                <a:solidFill>
                  <a:srgbClr val="E6E9FF"/>
                </a:solidFill>
                <a:latin typeface="Lexend Medium" pitchFamily="34" charset="0"/>
                <a:ea typeface="Lexend Medium" pitchFamily="34" charset="-122"/>
                <a:cs typeface="Lexend Medium" pitchFamily="34" charset="-120"/>
              </a:rPr>
              <a:t>Choose</a:t>
            </a:r>
            <a:endParaRPr lang="en-US" sz="2000" dirty="0"/>
          </a:p>
        </p:txBody>
      </p:sp>
      <p:sp>
        <p:nvSpPr>
          <p:cNvPr id="8" name="Text 6"/>
          <p:cNvSpPr/>
          <p:nvPr/>
        </p:nvSpPr>
        <p:spPr>
          <a:xfrm>
            <a:off x="609585" y="3921859"/>
            <a:ext cx="2400240" cy="92571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E6E9FF"/>
                </a:solidFill>
                <a:latin typeface="Lexend" pitchFamily="34" charset="0"/>
                <a:ea typeface="Lexend" pitchFamily="34" charset="-122"/>
                <a:cs typeface="Lexend" pitchFamily="34" charset="-120"/>
              </a:rPr>
              <a:t>Display available courses and accept student selections.</a:t>
            </a:r>
            <a:endParaRPr lang="en-US" sz="1800" dirty="0"/>
          </a:p>
        </p:txBody>
      </p:sp>
      <p:sp>
        <p:nvSpPr>
          <p:cNvPr id="9" name="Text 7"/>
          <p:cNvSpPr/>
          <p:nvPr/>
        </p:nvSpPr>
        <p:spPr>
          <a:xfrm>
            <a:off x="3467013" y="2735362"/>
            <a:ext cx="1143765" cy="304800"/>
          </a:xfrm>
          <a:prstGeom prst="rect">
            <a:avLst/>
          </a:prstGeom>
          <a:noFill/>
          <a:ln/>
        </p:spPr>
        <p:txBody>
          <a:bodyPr wrap="none" lIns="0" tIns="0" rIns="0" bIns="0" rtlCol="0" anchor="t"/>
          <a:lstStyle/>
          <a:p>
            <a:pPr algn="l" indent="0" marL="0">
              <a:lnSpc>
                <a:spcPct val="83000"/>
              </a:lnSpc>
              <a:buNone/>
            </a:pPr>
            <a:r>
              <a:rPr lang="en-US" sz="2400" dirty="0">
                <a:solidFill>
                  <a:srgbClr val="69A1FF"/>
                </a:solidFill>
                <a:latin typeface="Krona One" pitchFamily="34" charset="0"/>
                <a:ea typeface="Krona One" pitchFamily="34" charset="-122"/>
                <a:cs typeface="Krona One" pitchFamily="34" charset="-120"/>
              </a:rPr>
              <a:t>02</a:t>
            </a:r>
            <a:endParaRPr lang="en-US" sz="2400" dirty="0"/>
          </a:p>
        </p:txBody>
      </p:sp>
      <p:sp>
        <p:nvSpPr>
          <p:cNvPr id="10" name="Shape 8"/>
          <p:cNvSpPr/>
          <p:nvPr/>
        </p:nvSpPr>
        <p:spPr>
          <a:xfrm>
            <a:off x="3467013" y="3162102"/>
            <a:ext cx="2400240" cy="19050"/>
          </a:xfrm>
          <a:prstGeom prst="rect">
            <a:avLst/>
          </a:prstGeom>
          <a:solidFill>
            <a:srgbClr val="2878FF"/>
          </a:solidFill>
          <a:ln/>
        </p:spPr>
      </p:sp>
      <p:sp>
        <p:nvSpPr>
          <p:cNvPr id="11" name="Text 9"/>
          <p:cNvSpPr/>
          <p:nvPr/>
        </p:nvSpPr>
        <p:spPr>
          <a:xfrm>
            <a:off x="3467013" y="3376712"/>
            <a:ext cx="2400240" cy="330200"/>
          </a:xfrm>
          <a:prstGeom prst="rect">
            <a:avLst/>
          </a:prstGeom>
          <a:noFill/>
          <a:ln/>
        </p:spPr>
        <p:txBody>
          <a:bodyPr wrap="none" lIns="0" tIns="0" rIns="0" bIns="0" rtlCol="0" anchor="t"/>
          <a:lstStyle/>
          <a:p>
            <a:pPr algn="l" indent="0" marL="0">
              <a:lnSpc>
                <a:spcPct val="108000"/>
              </a:lnSpc>
              <a:buNone/>
            </a:pPr>
            <a:r>
              <a:rPr lang="en-US" sz="2000" spc="-10" kern="100" dirty="0">
                <a:solidFill>
                  <a:srgbClr val="E6E9FF"/>
                </a:solidFill>
                <a:latin typeface="Lexend Medium" pitchFamily="34" charset="0"/>
                <a:ea typeface="Lexend Medium" pitchFamily="34" charset="-122"/>
                <a:cs typeface="Lexend Medium" pitchFamily="34" charset="-120"/>
              </a:rPr>
              <a:t>Validate</a:t>
            </a:r>
            <a:endParaRPr lang="en-US" sz="2000" dirty="0"/>
          </a:p>
        </p:txBody>
      </p:sp>
      <p:sp>
        <p:nvSpPr>
          <p:cNvPr id="12" name="Text 10"/>
          <p:cNvSpPr/>
          <p:nvPr/>
        </p:nvSpPr>
        <p:spPr>
          <a:xfrm>
            <a:off x="3467013" y="3921859"/>
            <a:ext cx="2400240" cy="92571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E6E9FF"/>
                </a:solidFill>
                <a:latin typeface="Lexend" pitchFamily="34" charset="0"/>
                <a:ea typeface="Lexend" pitchFamily="34" charset="-122"/>
                <a:cs typeface="Lexend" pitchFamily="34" charset="-120"/>
              </a:rPr>
              <a:t>Reject duplicate registrations and timetable conflicts.</a:t>
            </a:r>
            <a:endParaRPr lang="en-US" sz="1800" dirty="0"/>
          </a:p>
        </p:txBody>
      </p:sp>
      <p:sp>
        <p:nvSpPr>
          <p:cNvPr id="13" name="Text 11"/>
          <p:cNvSpPr/>
          <p:nvPr/>
        </p:nvSpPr>
        <p:spPr>
          <a:xfrm>
            <a:off x="6324442" y="2735362"/>
            <a:ext cx="1143765" cy="304800"/>
          </a:xfrm>
          <a:prstGeom prst="rect">
            <a:avLst/>
          </a:prstGeom>
          <a:noFill/>
          <a:ln/>
        </p:spPr>
        <p:txBody>
          <a:bodyPr wrap="none" lIns="0" tIns="0" rIns="0" bIns="0" rtlCol="0" anchor="t"/>
          <a:lstStyle/>
          <a:p>
            <a:pPr algn="l" indent="0" marL="0">
              <a:lnSpc>
                <a:spcPct val="83000"/>
              </a:lnSpc>
              <a:buNone/>
            </a:pPr>
            <a:r>
              <a:rPr lang="en-US" sz="2400" dirty="0">
                <a:solidFill>
                  <a:srgbClr val="69A1FF"/>
                </a:solidFill>
                <a:latin typeface="Krona One" pitchFamily="34" charset="0"/>
                <a:ea typeface="Krona One" pitchFamily="34" charset="-122"/>
                <a:cs typeface="Krona One" pitchFamily="34" charset="-120"/>
              </a:rPr>
              <a:t>03</a:t>
            </a:r>
            <a:endParaRPr lang="en-US" sz="2400" dirty="0"/>
          </a:p>
        </p:txBody>
      </p:sp>
      <p:sp>
        <p:nvSpPr>
          <p:cNvPr id="14" name="Shape 12"/>
          <p:cNvSpPr/>
          <p:nvPr/>
        </p:nvSpPr>
        <p:spPr>
          <a:xfrm>
            <a:off x="6324442" y="3162102"/>
            <a:ext cx="2400240" cy="19050"/>
          </a:xfrm>
          <a:prstGeom prst="rect">
            <a:avLst/>
          </a:prstGeom>
          <a:solidFill>
            <a:srgbClr val="2878FF"/>
          </a:solidFill>
          <a:ln/>
        </p:spPr>
      </p:sp>
      <p:sp>
        <p:nvSpPr>
          <p:cNvPr id="15" name="Text 13"/>
          <p:cNvSpPr/>
          <p:nvPr/>
        </p:nvSpPr>
        <p:spPr>
          <a:xfrm>
            <a:off x="6324442" y="3376712"/>
            <a:ext cx="2400240" cy="330200"/>
          </a:xfrm>
          <a:prstGeom prst="rect">
            <a:avLst/>
          </a:prstGeom>
          <a:noFill/>
          <a:ln/>
        </p:spPr>
        <p:txBody>
          <a:bodyPr wrap="none" lIns="0" tIns="0" rIns="0" bIns="0" rtlCol="0" anchor="t"/>
          <a:lstStyle/>
          <a:p>
            <a:pPr algn="l" indent="0" marL="0">
              <a:lnSpc>
                <a:spcPct val="108000"/>
              </a:lnSpc>
              <a:buNone/>
            </a:pPr>
            <a:r>
              <a:rPr lang="en-US" sz="2000" spc="-10" kern="100" dirty="0">
                <a:solidFill>
                  <a:srgbClr val="E6E9FF"/>
                </a:solidFill>
                <a:latin typeface="Lexend Medium" pitchFamily="34" charset="0"/>
                <a:ea typeface="Lexend Medium" pitchFamily="34" charset="-122"/>
                <a:cs typeface="Lexend Medium" pitchFamily="34" charset="-120"/>
              </a:rPr>
              <a:t>Calculate</a:t>
            </a:r>
            <a:endParaRPr lang="en-US" sz="2000" dirty="0"/>
          </a:p>
        </p:txBody>
      </p:sp>
      <p:sp>
        <p:nvSpPr>
          <p:cNvPr id="16" name="Text 14"/>
          <p:cNvSpPr/>
          <p:nvPr/>
        </p:nvSpPr>
        <p:spPr>
          <a:xfrm>
            <a:off x="6324442" y="3921859"/>
            <a:ext cx="2400240" cy="92571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E6E9FF"/>
                </a:solidFill>
                <a:latin typeface="Lexend" pitchFamily="34" charset="0"/>
                <a:ea typeface="Lexend" pitchFamily="34" charset="-122"/>
                <a:cs typeface="Lexend" pitchFamily="34" charset="-120"/>
              </a:rPr>
              <a:t>Calculate total credits and generate a weekly timetable.</a:t>
            </a:r>
            <a:endParaRPr lang="en-US" sz="1800" dirty="0"/>
          </a:p>
        </p:txBody>
      </p:sp>
      <p:sp>
        <p:nvSpPr>
          <p:cNvPr id="17" name="Text 15"/>
          <p:cNvSpPr/>
          <p:nvPr/>
        </p:nvSpPr>
        <p:spPr>
          <a:xfrm>
            <a:off x="9181870" y="2735362"/>
            <a:ext cx="1168172" cy="304800"/>
          </a:xfrm>
          <a:prstGeom prst="rect">
            <a:avLst/>
          </a:prstGeom>
          <a:noFill/>
          <a:ln/>
        </p:spPr>
        <p:txBody>
          <a:bodyPr wrap="none" lIns="0" tIns="0" rIns="0" bIns="0" rtlCol="0" anchor="t"/>
          <a:lstStyle/>
          <a:p>
            <a:pPr algn="l" indent="0" marL="0">
              <a:lnSpc>
                <a:spcPct val="83000"/>
              </a:lnSpc>
              <a:buNone/>
            </a:pPr>
            <a:r>
              <a:rPr lang="en-US" sz="2400" dirty="0">
                <a:solidFill>
                  <a:srgbClr val="69A1FF"/>
                </a:solidFill>
                <a:latin typeface="Krona One" pitchFamily="34" charset="0"/>
                <a:ea typeface="Krona One" pitchFamily="34" charset="-122"/>
                <a:cs typeface="Krona One" pitchFamily="34" charset="-120"/>
              </a:rPr>
              <a:t>04</a:t>
            </a:r>
            <a:endParaRPr lang="en-US" sz="2400" dirty="0"/>
          </a:p>
        </p:txBody>
      </p:sp>
      <p:sp>
        <p:nvSpPr>
          <p:cNvPr id="18" name="Shape 16"/>
          <p:cNvSpPr/>
          <p:nvPr/>
        </p:nvSpPr>
        <p:spPr>
          <a:xfrm>
            <a:off x="9181870" y="3162102"/>
            <a:ext cx="2400240" cy="19050"/>
          </a:xfrm>
          <a:prstGeom prst="rect">
            <a:avLst/>
          </a:prstGeom>
          <a:solidFill>
            <a:srgbClr val="2878FF"/>
          </a:solidFill>
          <a:ln/>
        </p:spPr>
      </p:sp>
      <p:sp>
        <p:nvSpPr>
          <p:cNvPr id="19" name="Text 17"/>
          <p:cNvSpPr/>
          <p:nvPr/>
        </p:nvSpPr>
        <p:spPr>
          <a:xfrm>
            <a:off x="9181870" y="3376712"/>
            <a:ext cx="2400240" cy="330200"/>
          </a:xfrm>
          <a:prstGeom prst="rect">
            <a:avLst/>
          </a:prstGeom>
          <a:noFill/>
          <a:ln/>
        </p:spPr>
        <p:txBody>
          <a:bodyPr wrap="none" lIns="0" tIns="0" rIns="0" bIns="0" rtlCol="0" anchor="t"/>
          <a:lstStyle/>
          <a:p>
            <a:pPr algn="l" indent="0" marL="0">
              <a:lnSpc>
                <a:spcPct val="108000"/>
              </a:lnSpc>
              <a:buNone/>
            </a:pPr>
            <a:r>
              <a:rPr lang="en-US" sz="2000" spc="-10" kern="100" dirty="0">
                <a:solidFill>
                  <a:srgbClr val="E6E9FF"/>
                </a:solidFill>
                <a:latin typeface="Lexend Medium" pitchFamily="34" charset="0"/>
                <a:ea typeface="Lexend Medium" pitchFamily="34" charset="-122"/>
                <a:cs typeface="Lexend Medium" pitchFamily="34" charset="-120"/>
              </a:rPr>
              <a:t>Save</a:t>
            </a:r>
            <a:endParaRPr lang="en-US" sz="2000" dirty="0"/>
          </a:p>
        </p:txBody>
      </p:sp>
      <p:sp>
        <p:nvSpPr>
          <p:cNvPr id="20" name="Text 18"/>
          <p:cNvSpPr/>
          <p:nvPr/>
        </p:nvSpPr>
        <p:spPr>
          <a:xfrm>
            <a:off x="9181870" y="3921859"/>
            <a:ext cx="2400240" cy="92571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E6E9FF"/>
                </a:solidFill>
                <a:latin typeface="Lexend" pitchFamily="34" charset="0"/>
                <a:ea typeface="Lexend" pitchFamily="34" charset="-122"/>
                <a:cs typeface="Lexend" pitchFamily="34" charset="-120"/>
              </a:rPr>
              <a:t>Save and retrieve registration records in a text file.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1366619"/>
            <a:ext cx="11582110"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27E0E3"/>
                </a:solidFill>
                <a:latin typeface="Martian Mono Medium" pitchFamily="34" charset="0"/>
                <a:ea typeface="Martian Mono Medium" pitchFamily="34" charset="-122"/>
                <a:cs typeface="Martian Mono Medium" pitchFamily="34" charset="-120"/>
              </a:rPr>
              <a:t>END-TO-END FLOW</a:t>
            </a:r>
            <a:endParaRPr lang="en-US" sz="1300" dirty="0"/>
          </a:p>
        </p:txBody>
      </p:sp>
      <p:sp>
        <p:nvSpPr>
          <p:cNvPr id="3" name="Text 1"/>
          <p:cNvSpPr/>
          <p:nvPr/>
        </p:nvSpPr>
        <p:spPr>
          <a:xfrm>
            <a:off x="609585" y="1686249"/>
            <a:ext cx="10972526" cy="408880"/>
          </a:xfrm>
          <a:prstGeom prst="rect">
            <a:avLst/>
          </a:prstGeom>
          <a:noFill/>
          <a:ln/>
        </p:spPr>
        <p:txBody>
          <a:bodyPr wrap="none" lIns="0" tIns="0" rIns="0" bIns="0" rtlCol="0" anchor="t"/>
          <a:lstStyle/>
          <a:p>
            <a:pPr algn="l" indent="0" marL="0">
              <a:lnSpc>
                <a:spcPct val="96000"/>
              </a:lnSpc>
              <a:buNone/>
            </a:pPr>
            <a:r>
              <a:rPr lang="en-US" sz="2800" spc="-14" kern="100" dirty="0">
                <a:solidFill>
                  <a:srgbClr val="FFFFFF"/>
                </a:solidFill>
                <a:latin typeface="Krona One" pitchFamily="34" charset="0"/>
                <a:ea typeface="Krona One" pitchFamily="34" charset="-122"/>
                <a:cs typeface="Krona One" pitchFamily="34" charset="-120"/>
              </a:rPr>
              <a:t>One flow connects input to a usable timetable</a:t>
            </a:r>
            <a:endParaRPr lang="en-US" sz="2800" dirty="0"/>
          </a:p>
        </p:txBody>
      </p:sp>
      <p:sp>
        <p:nvSpPr>
          <p:cNvPr id="4" name="Shape 2"/>
          <p:cNvSpPr/>
          <p:nvPr/>
        </p:nvSpPr>
        <p:spPr>
          <a:xfrm>
            <a:off x="609585" y="2381845"/>
            <a:ext cx="2072628" cy="1219200"/>
          </a:xfrm>
          <a:prstGeom prst="rect">
            <a:avLst/>
          </a:prstGeom>
          <a:solidFill>
            <a:srgbClr val="4D4D84"/>
          </a:solidFill>
          <a:ln/>
        </p:spPr>
      </p:sp>
      <p:sp>
        <p:nvSpPr>
          <p:cNvPr id="5" name="Shape 3"/>
          <p:cNvSpPr/>
          <p:nvPr/>
        </p:nvSpPr>
        <p:spPr>
          <a:xfrm>
            <a:off x="628634" y="2400895"/>
            <a:ext cx="2034430" cy="1181100"/>
          </a:xfrm>
          <a:prstGeom prst="rect">
            <a:avLst/>
          </a:prstGeom>
          <a:solidFill>
            <a:srgbClr val="25255C"/>
          </a:solidFill>
          <a:ln/>
        </p:spPr>
      </p:sp>
      <p:sp>
        <p:nvSpPr>
          <p:cNvPr id="6" name="Text 4"/>
          <p:cNvSpPr/>
          <p:nvPr/>
        </p:nvSpPr>
        <p:spPr>
          <a:xfrm>
            <a:off x="1521978" y="2762845"/>
            <a:ext cx="857427" cy="457200"/>
          </a:xfrm>
          <a:prstGeom prst="rect">
            <a:avLst/>
          </a:prstGeom>
          <a:noFill/>
          <a:ln/>
        </p:spPr>
        <p:txBody>
          <a:bodyPr wrap="none" lIns="0" tIns="0" rIns="0" bIns="0" rtlCol="0" anchor="t"/>
          <a:lstStyle/>
          <a:p>
            <a:pPr algn="l" indent="0" marL="0">
              <a:lnSpc>
                <a:spcPct val="83000"/>
              </a:lnSpc>
              <a:buNone/>
            </a:pPr>
            <a:r>
              <a:rPr lang="en-US" sz="3600" dirty="0">
                <a:solidFill>
                  <a:srgbClr val="E6E9FF"/>
                </a:solidFill>
                <a:latin typeface="Lexend SemiBold" pitchFamily="34" charset="0"/>
                <a:ea typeface="Lexend SemiBold" pitchFamily="34" charset="-122"/>
                <a:cs typeface="Lexend SemiBold" pitchFamily="34" charset="-120"/>
              </a:rPr>
              <a:t>1</a:t>
            </a:r>
            <a:endParaRPr lang="en-US" sz="3600" dirty="0"/>
          </a:p>
        </p:txBody>
      </p:sp>
      <p:sp>
        <p:nvSpPr>
          <p:cNvPr id="7" name="Text 5"/>
          <p:cNvSpPr/>
          <p:nvPr/>
        </p:nvSpPr>
        <p:spPr>
          <a:xfrm>
            <a:off x="609585" y="3737570"/>
            <a:ext cx="2072628" cy="330200"/>
          </a:xfrm>
          <a:prstGeom prst="rect">
            <a:avLst/>
          </a:prstGeom>
          <a:noFill/>
          <a:ln/>
        </p:spPr>
        <p:txBody>
          <a:bodyPr wrap="none" lIns="0" tIns="0" rIns="0" bIns="0" rtlCol="0" anchor="t"/>
          <a:lstStyle/>
          <a:p>
            <a:pPr algn="l" indent="0" marL="0">
              <a:lnSpc>
                <a:spcPct val="108000"/>
              </a:lnSpc>
              <a:buNone/>
            </a:pPr>
            <a:r>
              <a:rPr lang="en-US" sz="2000" spc="-10" kern="100" dirty="0">
                <a:solidFill>
                  <a:srgbClr val="E6E9FF"/>
                </a:solidFill>
                <a:latin typeface="Lexend Medium" pitchFamily="34" charset="0"/>
                <a:ea typeface="Lexend Medium" pitchFamily="34" charset="-122"/>
                <a:cs typeface="Lexend Medium" pitchFamily="34" charset="-120"/>
              </a:rPr>
              <a:t>Input</a:t>
            </a:r>
            <a:endParaRPr lang="en-US" sz="2000" dirty="0"/>
          </a:p>
        </p:txBody>
      </p:sp>
      <p:sp>
        <p:nvSpPr>
          <p:cNvPr id="8" name="Text 6"/>
          <p:cNvSpPr/>
          <p:nvPr/>
        </p:nvSpPr>
        <p:spPr>
          <a:xfrm>
            <a:off x="609585" y="4282718"/>
            <a:ext cx="2072628" cy="92571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E6E9FF"/>
                </a:solidFill>
                <a:latin typeface="Lexend" pitchFamily="34" charset="0"/>
                <a:ea typeface="Lexend" pitchFamily="34" charset="-122"/>
                <a:cs typeface="Lexend" pitchFamily="34" charset="-120"/>
              </a:rPr>
              <a:t>Student input → view courses → select a course.</a:t>
            </a:r>
            <a:endParaRPr lang="en-US" sz="1800" dirty="0"/>
          </a:p>
        </p:txBody>
      </p:sp>
      <p:sp>
        <p:nvSpPr>
          <p:cNvPr id="9" name="Shape 7"/>
          <p:cNvSpPr/>
          <p:nvPr/>
        </p:nvSpPr>
        <p:spPr>
          <a:xfrm>
            <a:off x="2834510" y="2381845"/>
            <a:ext cx="2072628" cy="1219200"/>
          </a:xfrm>
          <a:prstGeom prst="rect">
            <a:avLst/>
          </a:prstGeom>
          <a:solidFill>
            <a:srgbClr val="4D4D84"/>
          </a:solidFill>
          <a:ln/>
        </p:spPr>
      </p:sp>
      <p:sp>
        <p:nvSpPr>
          <p:cNvPr id="10" name="Shape 8"/>
          <p:cNvSpPr/>
          <p:nvPr/>
        </p:nvSpPr>
        <p:spPr>
          <a:xfrm>
            <a:off x="2853559" y="2400895"/>
            <a:ext cx="2034430" cy="1181100"/>
          </a:xfrm>
          <a:prstGeom prst="rect">
            <a:avLst/>
          </a:prstGeom>
          <a:solidFill>
            <a:srgbClr val="25255C"/>
          </a:solidFill>
          <a:ln/>
        </p:spPr>
      </p:sp>
      <p:sp>
        <p:nvSpPr>
          <p:cNvPr id="11" name="Text 9"/>
          <p:cNvSpPr/>
          <p:nvPr/>
        </p:nvSpPr>
        <p:spPr>
          <a:xfrm>
            <a:off x="3745513" y="2762845"/>
            <a:ext cx="860205" cy="457200"/>
          </a:xfrm>
          <a:prstGeom prst="rect">
            <a:avLst/>
          </a:prstGeom>
          <a:noFill/>
          <a:ln/>
        </p:spPr>
        <p:txBody>
          <a:bodyPr wrap="none" lIns="0" tIns="0" rIns="0" bIns="0" rtlCol="0" anchor="t"/>
          <a:lstStyle/>
          <a:p>
            <a:pPr algn="l" indent="0" marL="0">
              <a:lnSpc>
                <a:spcPct val="83000"/>
              </a:lnSpc>
              <a:buNone/>
            </a:pPr>
            <a:r>
              <a:rPr lang="en-US" sz="3600" dirty="0">
                <a:solidFill>
                  <a:srgbClr val="E6E9FF"/>
                </a:solidFill>
                <a:latin typeface="Lexend SemiBold" pitchFamily="34" charset="0"/>
                <a:ea typeface="Lexend SemiBold" pitchFamily="34" charset="-122"/>
                <a:cs typeface="Lexend SemiBold" pitchFamily="34" charset="-120"/>
              </a:rPr>
              <a:t>2</a:t>
            </a:r>
            <a:endParaRPr lang="en-US" sz="3600" dirty="0"/>
          </a:p>
        </p:txBody>
      </p:sp>
      <p:sp>
        <p:nvSpPr>
          <p:cNvPr id="12" name="Text 10"/>
          <p:cNvSpPr/>
          <p:nvPr/>
        </p:nvSpPr>
        <p:spPr>
          <a:xfrm>
            <a:off x="2834510" y="3737570"/>
            <a:ext cx="2072628" cy="330200"/>
          </a:xfrm>
          <a:prstGeom prst="rect">
            <a:avLst/>
          </a:prstGeom>
          <a:noFill/>
          <a:ln/>
        </p:spPr>
        <p:txBody>
          <a:bodyPr wrap="none" lIns="0" tIns="0" rIns="0" bIns="0" rtlCol="0" anchor="t"/>
          <a:lstStyle/>
          <a:p>
            <a:pPr algn="l" indent="0" marL="0">
              <a:lnSpc>
                <a:spcPct val="108000"/>
              </a:lnSpc>
              <a:buNone/>
            </a:pPr>
            <a:r>
              <a:rPr lang="en-US" sz="2000" spc="-10" kern="100" dirty="0">
                <a:solidFill>
                  <a:srgbClr val="E6E9FF"/>
                </a:solidFill>
                <a:latin typeface="Lexend Medium" pitchFamily="34" charset="0"/>
                <a:ea typeface="Lexend Medium" pitchFamily="34" charset="-122"/>
                <a:cs typeface="Lexend Medium" pitchFamily="34" charset="-120"/>
              </a:rPr>
              <a:t>Validate</a:t>
            </a:r>
            <a:endParaRPr lang="en-US" sz="2000" dirty="0"/>
          </a:p>
        </p:txBody>
      </p:sp>
      <p:sp>
        <p:nvSpPr>
          <p:cNvPr id="13" name="Text 11"/>
          <p:cNvSpPr/>
          <p:nvPr/>
        </p:nvSpPr>
        <p:spPr>
          <a:xfrm>
            <a:off x="2834510" y="4282718"/>
            <a:ext cx="2072628" cy="92571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E6E9FF"/>
                </a:solidFill>
                <a:latin typeface="Lexend" pitchFamily="34" charset="0"/>
                <a:ea typeface="Lexend" pitchFamily="34" charset="-122"/>
                <a:cs typeface="Lexend" pitchFamily="34" charset="-120"/>
              </a:rPr>
              <a:t>Check course ID and duplicate status.</a:t>
            </a:r>
            <a:endParaRPr lang="en-US" sz="1800" dirty="0"/>
          </a:p>
        </p:txBody>
      </p:sp>
      <p:sp>
        <p:nvSpPr>
          <p:cNvPr id="14" name="Shape 12"/>
          <p:cNvSpPr/>
          <p:nvPr/>
        </p:nvSpPr>
        <p:spPr>
          <a:xfrm>
            <a:off x="5059434" y="2381845"/>
            <a:ext cx="2072727" cy="1219200"/>
          </a:xfrm>
          <a:prstGeom prst="rect">
            <a:avLst/>
          </a:prstGeom>
          <a:solidFill>
            <a:srgbClr val="4D4D84"/>
          </a:solidFill>
          <a:ln/>
        </p:spPr>
      </p:sp>
      <p:sp>
        <p:nvSpPr>
          <p:cNvPr id="15" name="Shape 13"/>
          <p:cNvSpPr/>
          <p:nvPr/>
        </p:nvSpPr>
        <p:spPr>
          <a:xfrm>
            <a:off x="5078484" y="2400895"/>
            <a:ext cx="2034628" cy="1181100"/>
          </a:xfrm>
          <a:prstGeom prst="rect">
            <a:avLst/>
          </a:prstGeom>
          <a:solidFill>
            <a:srgbClr val="25255C"/>
          </a:solidFill>
          <a:ln/>
        </p:spPr>
      </p:sp>
      <p:sp>
        <p:nvSpPr>
          <p:cNvPr id="16" name="Text 14"/>
          <p:cNvSpPr/>
          <p:nvPr/>
        </p:nvSpPr>
        <p:spPr>
          <a:xfrm>
            <a:off x="5965180" y="2762845"/>
            <a:ext cx="870722" cy="457200"/>
          </a:xfrm>
          <a:prstGeom prst="rect">
            <a:avLst/>
          </a:prstGeom>
          <a:noFill/>
          <a:ln/>
        </p:spPr>
        <p:txBody>
          <a:bodyPr wrap="none" lIns="0" tIns="0" rIns="0" bIns="0" rtlCol="0" anchor="t"/>
          <a:lstStyle/>
          <a:p>
            <a:pPr algn="l" indent="0" marL="0">
              <a:lnSpc>
                <a:spcPct val="83000"/>
              </a:lnSpc>
              <a:buNone/>
            </a:pPr>
            <a:r>
              <a:rPr lang="en-US" sz="3600" dirty="0">
                <a:solidFill>
                  <a:srgbClr val="E6E9FF"/>
                </a:solidFill>
                <a:latin typeface="Lexend SemiBold" pitchFamily="34" charset="0"/>
                <a:ea typeface="Lexend SemiBold" pitchFamily="34" charset="-122"/>
                <a:cs typeface="Lexend SemiBold" pitchFamily="34" charset="-120"/>
              </a:rPr>
              <a:t>3</a:t>
            </a:r>
            <a:endParaRPr lang="en-US" sz="3600" dirty="0"/>
          </a:p>
        </p:txBody>
      </p:sp>
      <p:sp>
        <p:nvSpPr>
          <p:cNvPr id="17" name="Text 15"/>
          <p:cNvSpPr/>
          <p:nvPr/>
        </p:nvSpPr>
        <p:spPr>
          <a:xfrm>
            <a:off x="5059434" y="3737570"/>
            <a:ext cx="2072727" cy="330200"/>
          </a:xfrm>
          <a:prstGeom prst="rect">
            <a:avLst/>
          </a:prstGeom>
          <a:noFill/>
          <a:ln/>
        </p:spPr>
        <p:txBody>
          <a:bodyPr wrap="none" lIns="0" tIns="0" rIns="0" bIns="0" rtlCol="0" anchor="t"/>
          <a:lstStyle/>
          <a:p>
            <a:pPr algn="l" indent="0" marL="0">
              <a:lnSpc>
                <a:spcPct val="108000"/>
              </a:lnSpc>
              <a:buNone/>
            </a:pPr>
            <a:r>
              <a:rPr lang="en-US" sz="2000" spc="-10" kern="100" dirty="0">
                <a:solidFill>
                  <a:srgbClr val="E6E9FF"/>
                </a:solidFill>
                <a:latin typeface="Lexend Medium" pitchFamily="34" charset="0"/>
                <a:ea typeface="Lexend Medium" pitchFamily="34" charset="-122"/>
                <a:cs typeface="Lexend Medium" pitchFamily="34" charset="-120"/>
              </a:rPr>
              <a:t>Check clash</a:t>
            </a:r>
            <a:endParaRPr lang="en-US" sz="2000" dirty="0"/>
          </a:p>
        </p:txBody>
      </p:sp>
      <p:sp>
        <p:nvSpPr>
          <p:cNvPr id="18" name="Text 16"/>
          <p:cNvSpPr/>
          <p:nvPr/>
        </p:nvSpPr>
        <p:spPr>
          <a:xfrm>
            <a:off x="5059434" y="4282718"/>
            <a:ext cx="2072727" cy="123428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E6E9FF"/>
                </a:solidFill>
                <a:latin typeface="Lexend" pitchFamily="34" charset="0"/>
                <a:ea typeface="Lexend" pitchFamily="34" charset="-122"/>
                <a:cs typeface="Lexend" pitchFamily="34" charset="-120"/>
              </a:rPr>
              <a:t>Compare the selected time with registered courses.</a:t>
            </a:r>
            <a:endParaRPr lang="en-US" sz="1800" dirty="0"/>
          </a:p>
        </p:txBody>
      </p:sp>
      <p:sp>
        <p:nvSpPr>
          <p:cNvPr id="19" name="Shape 17"/>
          <p:cNvSpPr/>
          <p:nvPr/>
        </p:nvSpPr>
        <p:spPr>
          <a:xfrm>
            <a:off x="7284458" y="2381845"/>
            <a:ext cx="2072628" cy="1219200"/>
          </a:xfrm>
          <a:prstGeom prst="rect">
            <a:avLst/>
          </a:prstGeom>
          <a:solidFill>
            <a:srgbClr val="4D4D84"/>
          </a:solidFill>
          <a:ln/>
        </p:spPr>
      </p:sp>
      <p:sp>
        <p:nvSpPr>
          <p:cNvPr id="20" name="Shape 18"/>
          <p:cNvSpPr/>
          <p:nvPr/>
        </p:nvSpPr>
        <p:spPr>
          <a:xfrm>
            <a:off x="7303508" y="2400895"/>
            <a:ext cx="2034430" cy="1181100"/>
          </a:xfrm>
          <a:prstGeom prst="rect">
            <a:avLst/>
          </a:prstGeom>
          <a:solidFill>
            <a:srgbClr val="25255C"/>
          </a:solidFill>
          <a:ln/>
        </p:spPr>
      </p:sp>
      <p:sp>
        <p:nvSpPr>
          <p:cNvPr id="21" name="Text 19"/>
          <p:cNvSpPr/>
          <p:nvPr/>
        </p:nvSpPr>
        <p:spPr>
          <a:xfrm>
            <a:off x="8172642" y="2762845"/>
            <a:ext cx="905845" cy="457200"/>
          </a:xfrm>
          <a:prstGeom prst="rect">
            <a:avLst/>
          </a:prstGeom>
          <a:noFill/>
          <a:ln/>
        </p:spPr>
        <p:txBody>
          <a:bodyPr wrap="none" lIns="0" tIns="0" rIns="0" bIns="0" rtlCol="0" anchor="t"/>
          <a:lstStyle/>
          <a:p>
            <a:pPr algn="l" indent="0" marL="0">
              <a:lnSpc>
                <a:spcPct val="83000"/>
              </a:lnSpc>
              <a:buNone/>
            </a:pPr>
            <a:r>
              <a:rPr lang="en-US" sz="3600" dirty="0">
                <a:solidFill>
                  <a:srgbClr val="E6E9FF"/>
                </a:solidFill>
                <a:latin typeface="Lexend SemiBold" pitchFamily="34" charset="0"/>
                <a:ea typeface="Lexend SemiBold" pitchFamily="34" charset="-122"/>
                <a:cs typeface="Lexend SemiBold" pitchFamily="34" charset="-120"/>
              </a:rPr>
              <a:t>4</a:t>
            </a:r>
            <a:endParaRPr lang="en-US" sz="3600" dirty="0"/>
          </a:p>
        </p:txBody>
      </p:sp>
      <p:sp>
        <p:nvSpPr>
          <p:cNvPr id="22" name="Text 20"/>
          <p:cNvSpPr/>
          <p:nvPr/>
        </p:nvSpPr>
        <p:spPr>
          <a:xfrm>
            <a:off x="7284458" y="3737570"/>
            <a:ext cx="2072628" cy="330200"/>
          </a:xfrm>
          <a:prstGeom prst="rect">
            <a:avLst/>
          </a:prstGeom>
          <a:noFill/>
          <a:ln/>
        </p:spPr>
        <p:txBody>
          <a:bodyPr wrap="none" lIns="0" tIns="0" rIns="0" bIns="0" rtlCol="0" anchor="t"/>
          <a:lstStyle/>
          <a:p>
            <a:pPr algn="l" indent="0" marL="0">
              <a:lnSpc>
                <a:spcPct val="108000"/>
              </a:lnSpc>
              <a:buNone/>
            </a:pPr>
            <a:r>
              <a:rPr lang="en-US" sz="2000" spc="-10" kern="100" dirty="0">
                <a:solidFill>
                  <a:srgbClr val="E6E9FF"/>
                </a:solidFill>
                <a:latin typeface="Lexend Medium" pitchFamily="34" charset="0"/>
                <a:ea typeface="Lexend Medium" pitchFamily="34" charset="-122"/>
                <a:cs typeface="Lexend Medium" pitchFamily="34" charset="-120"/>
              </a:rPr>
              <a:t>Register</a:t>
            </a:r>
            <a:endParaRPr lang="en-US" sz="2000" dirty="0"/>
          </a:p>
        </p:txBody>
      </p:sp>
      <p:sp>
        <p:nvSpPr>
          <p:cNvPr id="23" name="Text 21"/>
          <p:cNvSpPr/>
          <p:nvPr/>
        </p:nvSpPr>
        <p:spPr>
          <a:xfrm>
            <a:off x="7284458" y="4282718"/>
            <a:ext cx="2072628" cy="92571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E6E9FF"/>
                </a:solidFill>
                <a:latin typeface="Lexend" pitchFamily="34" charset="0"/>
                <a:ea typeface="Lexend" pitchFamily="34" charset="-122"/>
                <a:cs typeface="Lexend" pitchFamily="34" charset="-120"/>
              </a:rPr>
              <a:t>Register the course or show an error.</a:t>
            </a:r>
            <a:endParaRPr lang="en-US" sz="1800" dirty="0"/>
          </a:p>
        </p:txBody>
      </p:sp>
      <p:sp>
        <p:nvSpPr>
          <p:cNvPr id="24" name="Shape 22"/>
          <p:cNvSpPr/>
          <p:nvPr/>
        </p:nvSpPr>
        <p:spPr>
          <a:xfrm>
            <a:off x="9509383" y="2381845"/>
            <a:ext cx="2072727" cy="1219200"/>
          </a:xfrm>
          <a:prstGeom prst="rect">
            <a:avLst/>
          </a:prstGeom>
          <a:solidFill>
            <a:srgbClr val="4D4D84"/>
          </a:solidFill>
          <a:ln/>
        </p:spPr>
      </p:sp>
      <p:sp>
        <p:nvSpPr>
          <p:cNvPr id="25" name="Shape 23"/>
          <p:cNvSpPr/>
          <p:nvPr/>
        </p:nvSpPr>
        <p:spPr>
          <a:xfrm>
            <a:off x="9528433" y="2400895"/>
            <a:ext cx="2034628" cy="1181100"/>
          </a:xfrm>
          <a:prstGeom prst="rect">
            <a:avLst/>
          </a:prstGeom>
          <a:solidFill>
            <a:srgbClr val="25255C"/>
          </a:solidFill>
          <a:ln/>
        </p:spPr>
      </p:sp>
      <p:sp>
        <p:nvSpPr>
          <p:cNvPr id="26" name="Text 24"/>
          <p:cNvSpPr/>
          <p:nvPr/>
        </p:nvSpPr>
        <p:spPr>
          <a:xfrm>
            <a:off x="10411557" y="2762845"/>
            <a:ext cx="877965" cy="457200"/>
          </a:xfrm>
          <a:prstGeom prst="rect">
            <a:avLst/>
          </a:prstGeom>
          <a:noFill/>
          <a:ln/>
        </p:spPr>
        <p:txBody>
          <a:bodyPr wrap="none" lIns="0" tIns="0" rIns="0" bIns="0" rtlCol="0" anchor="t"/>
          <a:lstStyle/>
          <a:p>
            <a:pPr algn="l" indent="0" marL="0">
              <a:lnSpc>
                <a:spcPct val="83000"/>
              </a:lnSpc>
              <a:buNone/>
            </a:pPr>
            <a:r>
              <a:rPr lang="en-US" sz="3600" dirty="0">
                <a:solidFill>
                  <a:srgbClr val="E6E9FF"/>
                </a:solidFill>
                <a:latin typeface="Lexend SemiBold" pitchFamily="34" charset="0"/>
                <a:ea typeface="Lexend SemiBold" pitchFamily="34" charset="-122"/>
                <a:cs typeface="Lexend SemiBold" pitchFamily="34" charset="-120"/>
              </a:rPr>
              <a:t>5</a:t>
            </a:r>
            <a:endParaRPr lang="en-US" sz="3600" dirty="0"/>
          </a:p>
        </p:txBody>
      </p:sp>
      <p:sp>
        <p:nvSpPr>
          <p:cNvPr id="27" name="Text 25"/>
          <p:cNvSpPr/>
          <p:nvPr/>
        </p:nvSpPr>
        <p:spPr>
          <a:xfrm>
            <a:off x="9509383" y="3737570"/>
            <a:ext cx="2072727" cy="330200"/>
          </a:xfrm>
          <a:prstGeom prst="rect">
            <a:avLst/>
          </a:prstGeom>
          <a:noFill/>
          <a:ln/>
        </p:spPr>
        <p:txBody>
          <a:bodyPr wrap="none" lIns="0" tIns="0" rIns="0" bIns="0" rtlCol="0" anchor="t"/>
          <a:lstStyle/>
          <a:p>
            <a:pPr algn="l" indent="0" marL="0">
              <a:lnSpc>
                <a:spcPct val="108000"/>
              </a:lnSpc>
              <a:buNone/>
            </a:pPr>
            <a:r>
              <a:rPr lang="en-US" sz="2000" spc="-10" kern="100" dirty="0">
                <a:solidFill>
                  <a:srgbClr val="E6E9FF"/>
                </a:solidFill>
                <a:latin typeface="Lexend Medium" pitchFamily="34" charset="0"/>
                <a:ea typeface="Lexend Medium" pitchFamily="34" charset="-122"/>
                <a:cs typeface="Lexend Medium" pitchFamily="34" charset="-120"/>
              </a:rPr>
              <a:t>Output</a:t>
            </a:r>
            <a:endParaRPr lang="en-US" sz="2000" dirty="0"/>
          </a:p>
        </p:txBody>
      </p:sp>
      <p:sp>
        <p:nvSpPr>
          <p:cNvPr id="28" name="Text 26"/>
          <p:cNvSpPr/>
          <p:nvPr/>
        </p:nvSpPr>
        <p:spPr>
          <a:xfrm>
            <a:off x="9509383" y="4282718"/>
            <a:ext cx="2072727" cy="123428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E6E9FF"/>
                </a:solidFill>
                <a:latin typeface="Lexend" pitchFamily="34" charset="0"/>
                <a:ea typeface="Lexend" pitchFamily="34" charset="-122"/>
                <a:cs typeface="Lexend" pitchFamily="34" charset="-120"/>
              </a:rPr>
              <a:t>Generate timetable, calculate credits, and save records.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26745"/>
            <a:ext cx="5257668"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27E0E3"/>
                </a:solidFill>
                <a:latin typeface="Martian Mono Medium" pitchFamily="34" charset="0"/>
                <a:ea typeface="Martian Mono Medium" pitchFamily="34" charset="-122"/>
                <a:cs typeface="Martian Mono Medium" pitchFamily="34" charset="-120"/>
              </a:rPr>
              <a:t>MODULE 1 · JAVA FOUNDATIONS</a:t>
            </a:r>
            <a:endParaRPr lang="en-US" sz="1300" dirty="0"/>
          </a:p>
        </p:txBody>
      </p:sp>
      <p:sp>
        <p:nvSpPr>
          <p:cNvPr id="3" name="Text 1"/>
          <p:cNvSpPr/>
          <p:nvPr/>
        </p:nvSpPr>
        <p:spPr>
          <a:xfrm>
            <a:off x="609585" y="946375"/>
            <a:ext cx="4648084" cy="1226641"/>
          </a:xfrm>
          <a:prstGeom prst="rect">
            <a:avLst/>
          </a:prstGeom>
          <a:noFill/>
          <a:ln/>
        </p:spPr>
        <p:txBody>
          <a:bodyPr wrap="square" lIns="0" tIns="0" rIns="0" bIns="0" rtlCol="0" anchor="t">
            <a:normAutofit/>
          </a:bodyPr>
          <a:lstStyle/>
          <a:p>
            <a:pPr algn="l" indent="0" marL="0">
              <a:lnSpc>
                <a:spcPct val="96000"/>
              </a:lnSpc>
              <a:buNone/>
            </a:pPr>
            <a:r>
              <a:rPr lang="en-US" sz="2800" spc="-14" kern="100" dirty="0">
                <a:solidFill>
                  <a:srgbClr val="FFFFFF"/>
                </a:solidFill>
                <a:latin typeface="Krona One" pitchFamily="34" charset="0"/>
                <a:ea typeface="Krona One" pitchFamily="34" charset="-122"/>
                <a:cs typeface="Krona One" pitchFamily="34" charset="-120"/>
              </a:rPr>
              <a:t>Module 1 turns the problem into a Java program</a:t>
            </a:r>
            <a:endParaRPr lang="en-US" sz="2800" dirty="0"/>
          </a:p>
        </p:txBody>
      </p:sp>
      <p:sp>
        <p:nvSpPr>
          <p:cNvPr id="4" name="Text 2"/>
          <p:cNvSpPr/>
          <p:nvPr/>
        </p:nvSpPr>
        <p:spPr>
          <a:xfrm>
            <a:off x="609585" y="2459732"/>
            <a:ext cx="4648084" cy="3564731"/>
          </a:xfrm>
          <a:prstGeom prst="rect">
            <a:avLst/>
          </a:prstGeom>
          <a:noFill/>
          <a:ln/>
        </p:spPr>
        <p:txBody>
          <a:bodyPr wrap="square" lIns="0" tIns="0" rIns="0" bIns="0" rtlCol="0" anchor="t">
            <a:normAutofit/>
          </a:bodyPr>
          <a:lstStyle/>
          <a:p>
            <a:pPr algn="l" indent="0" marL="0">
              <a:lnSpc>
                <a:spcPct val="113000"/>
              </a:lnSpc>
              <a:spcAft>
                <a:spcPts val="2100"/>
              </a:spcAft>
              <a:buNone/>
            </a:pPr>
            <a:r>
              <a:rPr lang="en-US" sz="2400" dirty="0">
                <a:solidFill>
                  <a:srgbClr val="E6E9FF"/>
                </a:solidFill>
                <a:latin typeface="Lexend" pitchFamily="34" charset="0"/>
                <a:ea typeface="Lexend" pitchFamily="34" charset="-122"/>
                <a:cs typeface="Lexend" pitchFamily="34" charset="-120"/>
              </a:rPr>
              <a:t>Decompose the task into input, validation, registration, and output. Variables, constants, primitive types, operators, casting, and expressions provide the foundation.</a:t>
            </a:r>
            <a:endParaRPr lang="en-US" sz="2400" dirty="0"/>
          </a:p>
          <a:p>
            <a:pPr algn="l" indent="0" marL="0">
              <a:lnSpc>
                <a:spcPct val="113000"/>
              </a:lnSpc>
              <a:buNone/>
            </a:pPr>
            <a:r>
              <a:rPr lang="en-US" sz="2400" dirty="0">
                <a:solidFill>
                  <a:srgbClr val="E6E9FF"/>
                </a:solidFill>
                <a:latin typeface="Lexend" pitchFamily="34" charset="0"/>
                <a:ea typeface="Lexend" pitchFamily="34" charset="-122"/>
                <a:cs typeface="Lexend" pitchFamily="34" charset="-120"/>
              </a:rPr>
              <a:t>Use </a:t>
            </a:r>
            <a:pPr algn="l" indent="0" marL="0">
              <a:lnSpc>
                <a:spcPct val="113000"/>
              </a:lnSpc>
              <a:buNone/>
            </a:pPr>
            <a:r>
              <a:rPr lang="en-US" sz="2400" dirty="0">
                <a:solidFill>
                  <a:srgbClr val="E6E9FF"/>
                </a:solidFill>
                <a:highlight>
                  <a:srgbClr val="1E1F66"/>
                </a:highlight>
                <a:latin typeface="Consolas" pitchFamily="34" charset="0"/>
                <a:ea typeface="Consolas" pitchFamily="34" charset="-122"/>
                <a:cs typeface="Consolas" pitchFamily="34" charset="-120"/>
              </a:rPr>
              <a:t>Scanner</a:t>
            </a:r>
            <a:pPr algn="l" indent="0" marL="0">
              <a:lnSpc>
                <a:spcPct val="113000"/>
              </a:lnSpc>
              <a:buNone/>
            </a:pPr>
            <a:r>
              <a:rPr lang="en-US" sz="2400" dirty="0">
                <a:solidFill>
                  <a:srgbClr val="E6E9FF"/>
                </a:solidFill>
                <a:latin typeface="Lexend" pitchFamily="34" charset="0"/>
                <a:ea typeface="Lexend" pitchFamily="34" charset="-122"/>
                <a:cs typeface="Lexend" pitchFamily="34" charset="-120"/>
              </a:rPr>
              <a:t> for student input and formatted console output.</a:t>
            </a:r>
            <a:endParaRPr lang="en-US" sz="2400" dirty="0"/>
          </a:p>
        </p:txBody>
      </p:sp>
      <p:sp>
        <p:nvSpPr>
          <p:cNvPr id="5" name="Shape 3"/>
          <p:cNvSpPr/>
          <p:nvPr/>
        </p:nvSpPr>
        <p:spPr>
          <a:xfrm>
            <a:off x="6324442" y="0"/>
            <a:ext cx="5867253" cy="6858000"/>
          </a:xfrm>
          <a:prstGeom prst="roundRect">
            <a:avLst>
              <a:gd name="adj" fmla="val 2597"/>
            </a:avLst>
          </a:prstGeom>
          <a:solidFill>
            <a:srgbClr val="1E1F66"/>
          </a:solidFill>
          <a:ln w="6350">
            <a:solidFill>
              <a:srgbClr val="2878FF"/>
            </a:solidFill>
            <a:prstDash val="solid"/>
          </a:ln>
          <a:effectLst>
            <a:outerShdw sx="100000" sy="100000" kx="0" ky="0" algn="bl" rotWithShape="0" blurRad="201930" dist="127" dir="16200000">
              <a:srgbClr val="2878ff">
                <a:alpha val="40000"/>
              </a:srgbClr>
            </a:outerShdw>
          </a:effectLst>
        </p:spPr>
      </p:sp>
      <p:sp>
        <p:nvSpPr>
          <p:cNvPr id="6" name="Text 4"/>
          <p:cNvSpPr/>
          <p:nvPr/>
        </p:nvSpPr>
        <p:spPr>
          <a:xfrm>
            <a:off x="6635584" y="328295"/>
            <a:ext cx="5556111"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E6E9FF"/>
                </a:solidFill>
                <a:latin typeface="Martian Mono Medium" pitchFamily="34" charset="0"/>
                <a:ea typeface="Martian Mono Medium" pitchFamily="34" charset="-122"/>
                <a:cs typeface="Martian Mono Medium" pitchFamily="34" charset="-120"/>
              </a:rPr>
              <a:t>FOUNDATION EXAMPLE</a:t>
            </a:r>
            <a:endParaRPr lang="en-US" sz="1300" dirty="0"/>
          </a:p>
        </p:txBody>
      </p:sp>
      <p:sp>
        <p:nvSpPr>
          <p:cNvPr id="7" name="Shape 5"/>
          <p:cNvSpPr/>
          <p:nvPr/>
        </p:nvSpPr>
        <p:spPr>
          <a:xfrm>
            <a:off x="6635584" y="852091"/>
            <a:ext cx="5244969" cy="2560241"/>
          </a:xfrm>
          <a:prstGeom prst="roundRect">
            <a:avLst>
              <a:gd name="adj" fmla="val 5000"/>
            </a:avLst>
          </a:prstGeom>
          <a:solidFill>
            <a:srgbClr val="1E1F66"/>
          </a:solidFill>
          <a:ln/>
        </p:spPr>
      </p:sp>
      <p:sp>
        <p:nvSpPr>
          <p:cNvPr id="8" name="Text 6"/>
          <p:cNvSpPr/>
          <p:nvPr/>
        </p:nvSpPr>
        <p:spPr>
          <a:xfrm>
            <a:off x="7001295" y="1156891"/>
            <a:ext cx="4513546" cy="1950641"/>
          </a:xfrm>
          <a:prstGeom prst="rect">
            <a:avLst/>
          </a:prstGeom>
          <a:noFill/>
          <a:ln/>
        </p:spPr>
        <p:txBody>
          <a:bodyPr wrap="square" lIns="0" tIns="0" rIns="0" bIns="0" rtlCol="0" anchor="t">
            <a:normAutofit/>
          </a:bodyPr>
          <a:lstStyle/>
          <a:p>
            <a:pPr algn="l" indent="0" marL="0">
              <a:lnSpc>
                <a:spcPct val="133000"/>
              </a:lnSpc>
              <a:buNone/>
            </a:pPr>
            <a:r>
              <a:rPr lang="en-US" sz="2400" dirty="0">
                <a:solidFill>
                  <a:srgbClr val="FF7B72"/>
                </a:solidFill>
                <a:latin typeface="Consolas" pitchFamily="34" charset="0"/>
                <a:ea typeface="Consolas" pitchFamily="34" charset="-122"/>
                <a:cs typeface="Consolas" pitchFamily="34" charset="-120"/>
              </a:rPr>
              <a:t>Scanner sc = new Scanner(System.in);</a:t>
            </a:r>
            <a:endParaRPr lang="en-US" sz="2400" dirty="0"/>
          </a:p>
          <a:p>
            <a:pPr algn="l" indent="0" marL="0">
              <a:lnSpc>
                <a:spcPct val="133000"/>
              </a:lnSpc>
              <a:buNone/>
            </a:pPr>
            <a:r>
              <a:rPr lang="en-US" sz="2400" dirty="0">
                <a:solidFill>
                  <a:srgbClr val="FF7B72"/>
                </a:solidFill>
                <a:latin typeface="Consolas" pitchFamily="34" charset="0"/>
                <a:ea typeface="Consolas" pitchFamily="34" charset="-122"/>
                <a:cs typeface="Consolas" pitchFamily="34" charset="-120"/>
              </a:rPr>
              <a:t>String id = sc.nextLine();</a:t>
            </a:r>
            <a:endParaRPr lang="en-US" sz="2400" dirty="0"/>
          </a:p>
          <a:p>
            <a:pPr algn="l" indent="0" marL="0">
              <a:lnSpc>
                <a:spcPct val="133000"/>
              </a:lnSpc>
              <a:buNone/>
            </a:pPr>
            <a:r>
              <a:rPr lang="en-US" sz="2400" dirty="0">
                <a:solidFill>
                  <a:srgbClr val="FF7B72"/>
                </a:solidFill>
                <a:latin typeface="Consolas" pitchFamily="34" charset="0"/>
                <a:ea typeface="Consolas" pitchFamily="34" charset="-122"/>
                <a:cs typeface="Consolas" pitchFamily="34" charset="-120"/>
              </a:rPr>
              <a:t>String name = sc.nextLine();</a:t>
            </a:r>
            <a:endParaRPr lang="en-US" sz="2400" dirty="0"/>
          </a:p>
        </p:txBody>
      </p:sp>
      <p:sp>
        <p:nvSpPr>
          <p:cNvPr id="9" name="Text 7"/>
          <p:cNvSpPr/>
          <p:nvPr/>
        </p:nvSpPr>
        <p:spPr>
          <a:xfrm>
            <a:off x="6635584" y="3764121"/>
            <a:ext cx="5556111" cy="231080"/>
          </a:xfrm>
          <a:prstGeom prst="rect">
            <a:avLst/>
          </a:prstGeom>
          <a:noFill/>
          <a:ln/>
        </p:spPr>
        <p:txBody>
          <a:bodyPr wrap="none" lIns="0" tIns="0" rIns="0" bIns="0" rtlCol="0" anchor="t"/>
          <a:lstStyle/>
          <a:p>
            <a:pPr algn="l" indent="0" marL="0">
              <a:lnSpc>
                <a:spcPct val="108000"/>
              </a:lnSpc>
              <a:buNone/>
            </a:pPr>
            <a:r>
              <a:rPr lang="en-US" sz="1400" spc="14" kern="100" dirty="0">
                <a:solidFill>
                  <a:srgbClr val="E6E9FF"/>
                </a:solidFill>
                <a:latin typeface="Lexend" pitchFamily="34" charset="0"/>
                <a:ea typeface="Lexend" pitchFamily="34" charset="-122"/>
                <a:cs typeface="Lexend" pitchFamily="34" charset="-120"/>
              </a:rPr>
              <a:t>Input is captured before the workflow validates it.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26745"/>
            <a:ext cx="11582110"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27E0E3"/>
                </a:solidFill>
                <a:latin typeface="Martian Mono Medium" pitchFamily="34" charset="0"/>
                <a:ea typeface="Martian Mono Medium" pitchFamily="34" charset="-122"/>
                <a:cs typeface="Martian Mono Medium" pitchFamily="34" charset="-120"/>
              </a:rPr>
              <a:t>ALGORITHM</a:t>
            </a:r>
            <a:endParaRPr lang="en-US" sz="1300" dirty="0"/>
          </a:p>
        </p:txBody>
      </p:sp>
      <p:sp>
        <p:nvSpPr>
          <p:cNvPr id="3" name="Text 1"/>
          <p:cNvSpPr/>
          <p:nvPr/>
        </p:nvSpPr>
        <p:spPr>
          <a:xfrm>
            <a:off x="609585" y="946375"/>
            <a:ext cx="10972526" cy="817761"/>
          </a:xfrm>
          <a:prstGeom prst="rect">
            <a:avLst/>
          </a:prstGeom>
          <a:noFill/>
          <a:ln/>
        </p:spPr>
        <p:txBody>
          <a:bodyPr wrap="square" lIns="0" tIns="0" rIns="0" bIns="0" rtlCol="0" anchor="t">
            <a:normAutofit/>
          </a:bodyPr>
          <a:lstStyle/>
          <a:p>
            <a:pPr algn="l" indent="0" marL="0">
              <a:lnSpc>
                <a:spcPct val="96000"/>
              </a:lnSpc>
              <a:buNone/>
            </a:pPr>
            <a:r>
              <a:rPr lang="en-US" sz="2800" spc="-14" kern="100" dirty="0">
                <a:solidFill>
                  <a:srgbClr val="FFFFFF"/>
                </a:solidFill>
                <a:latin typeface="Krona One" pitchFamily="34" charset="0"/>
                <a:ea typeface="Krona One" pitchFamily="34" charset="-122"/>
                <a:cs typeface="Krona One" pitchFamily="34" charset="-120"/>
              </a:rPr>
              <a:t>The registration algorithm is a chain of decisions</a:t>
            </a:r>
            <a:endParaRPr lang="en-US" sz="2800" dirty="0"/>
          </a:p>
        </p:txBody>
      </p:sp>
      <p:pic>
        <p:nvPicPr>
          <p:cNvPr id="4" name="Image 0" descr="preencoded.png">    </p:cNvPr>
          <p:cNvPicPr>
            <a:picLocks noChangeAspect="1"/>
          </p:cNvPicPr>
          <p:nvPr/>
        </p:nvPicPr>
        <p:blipFill>
          <a:blip r:embed="rId1"/>
          <a:stretch>
            <a:fillRect/>
          </a:stretch>
        </p:blipFill>
        <p:spPr>
          <a:xfrm>
            <a:off x="2382877" y="2022277"/>
            <a:ext cx="7425842" cy="3809901"/>
          </a:xfrm>
          <a:prstGeom prst="rect">
            <a:avLst/>
          </a:prstGeom>
        </p:spPr>
      </p:pic>
      <p:sp>
        <p:nvSpPr>
          <p:cNvPr id="5" name="Text 2"/>
          <p:cNvSpPr/>
          <p:nvPr/>
        </p:nvSpPr>
        <p:spPr>
          <a:xfrm>
            <a:off x="3202791" y="4814411"/>
            <a:ext cx="1753858" cy="514862"/>
          </a:xfrm>
          <a:prstGeom prst="rect">
            <a:avLst/>
          </a:prstGeom>
          <a:noFill/>
          <a:ln/>
        </p:spPr>
        <p:txBody>
          <a:bodyPr wrap="square" lIns="0" tIns="0" rIns="0" bIns="0" rtlCol="0" anchor="t">
            <a:normAutofit/>
          </a:bodyPr>
          <a:lstStyle/>
          <a:p>
            <a:pPr algn="r" indent="0" marL="0">
              <a:lnSpc>
                <a:spcPct val="108000"/>
              </a:lnSpc>
              <a:buNone/>
            </a:pPr>
            <a:r>
              <a:rPr lang="en-US" sz="1550" spc="-8" kern="100" dirty="0">
                <a:solidFill>
                  <a:srgbClr val="E6E9FF"/>
                </a:solidFill>
                <a:latin typeface="Krona One" pitchFamily="34" charset="0"/>
                <a:ea typeface="Krona One" pitchFamily="34" charset="-122"/>
                <a:cs typeface="Krona One" pitchFamily="34" charset="-120"/>
              </a:rPr>
              <a:t>Start Registration</a:t>
            </a:r>
            <a:endParaRPr lang="en-US" sz="1550" dirty="0"/>
          </a:p>
        </p:txBody>
      </p:sp>
      <p:sp>
        <p:nvSpPr>
          <p:cNvPr id="6" name="Text 3"/>
          <p:cNvSpPr/>
          <p:nvPr/>
        </p:nvSpPr>
        <p:spPr>
          <a:xfrm>
            <a:off x="3202791" y="5407863"/>
            <a:ext cx="1753858" cy="353658"/>
          </a:xfrm>
          <a:prstGeom prst="rect">
            <a:avLst/>
          </a:prstGeom>
          <a:noFill/>
          <a:ln/>
        </p:spPr>
        <p:txBody>
          <a:bodyPr wrap="square" lIns="0" tIns="0" rIns="0" bIns="0" rtlCol="0" anchor="t">
            <a:normAutofit/>
          </a:bodyPr>
          <a:lstStyle/>
          <a:p>
            <a:pPr algn="r" indent="0" marL="0">
              <a:lnSpc>
                <a:spcPct val="113000"/>
              </a:lnSpc>
              <a:buNone/>
            </a:pPr>
            <a:r>
              <a:rPr lang="en-US" sz="1050" dirty="0">
                <a:solidFill>
                  <a:srgbClr val="E6E9FF"/>
                </a:solidFill>
                <a:latin typeface="Lexend" pitchFamily="34" charset="0"/>
                <a:ea typeface="Lexend" pitchFamily="34" charset="-122"/>
                <a:cs typeface="Lexend" pitchFamily="34" charset="-120"/>
              </a:rPr>
              <a:t>Enter student details to begin.</a:t>
            </a:r>
            <a:endParaRPr lang="en-US" sz="1050" dirty="0"/>
          </a:p>
        </p:txBody>
      </p:sp>
      <p:sp>
        <p:nvSpPr>
          <p:cNvPr id="7" name="Text 4"/>
          <p:cNvSpPr/>
          <p:nvPr/>
        </p:nvSpPr>
        <p:spPr>
          <a:xfrm>
            <a:off x="2556755" y="2288680"/>
            <a:ext cx="1753858" cy="514862"/>
          </a:xfrm>
          <a:prstGeom prst="rect">
            <a:avLst/>
          </a:prstGeom>
          <a:noFill/>
          <a:ln/>
        </p:spPr>
        <p:txBody>
          <a:bodyPr wrap="square" lIns="0" tIns="0" rIns="0" bIns="0" rtlCol="0" anchor="t">
            <a:normAutofit/>
          </a:bodyPr>
          <a:lstStyle/>
          <a:p>
            <a:pPr algn="r" indent="0" marL="0">
              <a:lnSpc>
                <a:spcPct val="108000"/>
              </a:lnSpc>
              <a:buNone/>
            </a:pPr>
            <a:r>
              <a:rPr lang="en-US" sz="1550" spc="-8" kern="100" dirty="0">
                <a:solidFill>
                  <a:srgbClr val="E6E9FF"/>
                </a:solidFill>
                <a:latin typeface="Krona One" pitchFamily="34" charset="0"/>
                <a:ea typeface="Krona One" pitchFamily="34" charset="-122"/>
                <a:cs typeface="Krona One" pitchFamily="34" charset="-120"/>
              </a:rPr>
              <a:t>Course Selection</a:t>
            </a:r>
            <a:endParaRPr lang="en-US" sz="1550" dirty="0"/>
          </a:p>
        </p:txBody>
      </p:sp>
      <p:sp>
        <p:nvSpPr>
          <p:cNvPr id="8" name="Text 5"/>
          <p:cNvSpPr/>
          <p:nvPr/>
        </p:nvSpPr>
        <p:spPr>
          <a:xfrm>
            <a:off x="2556755" y="2882133"/>
            <a:ext cx="1753858" cy="353658"/>
          </a:xfrm>
          <a:prstGeom prst="rect">
            <a:avLst/>
          </a:prstGeom>
          <a:noFill/>
          <a:ln/>
        </p:spPr>
        <p:txBody>
          <a:bodyPr wrap="square" lIns="0" tIns="0" rIns="0" bIns="0" rtlCol="0" anchor="t">
            <a:normAutofit/>
          </a:bodyPr>
          <a:lstStyle/>
          <a:p>
            <a:pPr algn="r" indent="0" marL="0">
              <a:lnSpc>
                <a:spcPct val="113000"/>
              </a:lnSpc>
              <a:buNone/>
            </a:pPr>
            <a:r>
              <a:rPr lang="en-US" sz="1050" dirty="0">
                <a:solidFill>
                  <a:srgbClr val="E6E9FF"/>
                </a:solidFill>
                <a:latin typeface="Lexend" pitchFamily="34" charset="0"/>
                <a:ea typeface="Lexend" pitchFamily="34" charset="-122"/>
                <a:cs typeface="Lexend" pitchFamily="34" charset="-120"/>
              </a:rPr>
              <a:t>Display courses and choose course ID.</a:t>
            </a:r>
            <a:endParaRPr lang="en-US" sz="1050" dirty="0"/>
          </a:p>
        </p:txBody>
      </p:sp>
      <p:sp>
        <p:nvSpPr>
          <p:cNvPr id="9" name="Text 6"/>
          <p:cNvSpPr/>
          <p:nvPr/>
        </p:nvSpPr>
        <p:spPr>
          <a:xfrm>
            <a:off x="5244859" y="2013922"/>
            <a:ext cx="1753858" cy="514862"/>
          </a:xfrm>
          <a:prstGeom prst="rect">
            <a:avLst/>
          </a:prstGeom>
          <a:noFill/>
          <a:ln/>
        </p:spPr>
        <p:txBody>
          <a:bodyPr wrap="square" lIns="0" tIns="0" rIns="0" bIns="0" rtlCol="0" anchor="t">
            <a:normAutofit/>
          </a:bodyPr>
          <a:lstStyle/>
          <a:p>
            <a:pPr algn="l" indent="0" marL="0">
              <a:lnSpc>
                <a:spcPct val="108000"/>
              </a:lnSpc>
              <a:buNone/>
            </a:pPr>
            <a:r>
              <a:rPr lang="en-US" sz="1550" spc="-8" kern="100" dirty="0">
                <a:solidFill>
                  <a:srgbClr val="E6E9FF"/>
                </a:solidFill>
                <a:latin typeface="Krona One" pitchFamily="34" charset="0"/>
                <a:ea typeface="Krona One" pitchFamily="34" charset="-122"/>
                <a:cs typeface="Krona One" pitchFamily="34" charset="-120"/>
              </a:rPr>
              <a:t>Validate Course</a:t>
            </a:r>
            <a:endParaRPr lang="en-US" sz="1550" dirty="0"/>
          </a:p>
        </p:txBody>
      </p:sp>
      <p:sp>
        <p:nvSpPr>
          <p:cNvPr id="10" name="Text 7"/>
          <p:cNvSpPr/>
          <p:nvPr/>
        </p:nvSpPr>
        <p:spPr>
          <a:xfrm>
            <a:off x="5244859" y="2607375"/>
            <a:ext cx="1753858" cy="353658"/>
          </a:xfrm>
          <a:prstGeom prst="rect">
            <a:avLst/>
          </a:prstGeom>
          <a:noFill/>
          <a:ln/>
        </p:spPr>
        <p:txBody>
          <a:bodyPr wrap="square" lIns="0" tIns="0" rIns="0" bIns="0" rtlCol="0" anchor="t">
            <a:normAutofit/>
          </a:bodyPr>
          <a:lstStyle/>
          <a:p>
            <a:pPr algn="l" indent="0" marL="0">
              <a:lnSpc>
                <a:spcPct val="113000"/>
              </a:lnSpc>
              <a:buNone/>
            </a:pPr>
            <a:r>
              <a:rPr lang="en-US" sz="1050" dirty="0">
                <a:solidFill>
                  <a:srgbClr val="E6E9FF"/>
                </a:solidFill>
                <a:latin typeface="Lexend" pitchFamily="34" charset="0"/>
                <a:ea typeface="Lexend" pitchFamily="34" charset="-122"/>
                <a:cs typeface="Lexend" pitchFamily="34" charset="-120"/>
              </a:rPr>
              <a:t>Confirm course exists and is available.</a:t>
            </a:r>
            <a:endParaRPr lang="en-US" sz="1050" dirty="0"/>
          </a:p>
        </p:txBody>
      </p:sp>
      <p:sp>
        <p:nvSpPr>
          <p:cNvPr id="11" name="Text 8"/>
          <p:cNvSpPr/>
          <p:nvPr/>
        </p:nvSpPr>
        <p:spPr>
          <a:xfrm>
            <a:off x="7108711" y="4814411"/>
            <a:ext cx="1753858" cy="514862"/>
          </a:xfrm>
          <a:prstGeom prst="rect">
            <a:avLst/>
          </a:prstGeom>
          <a:noFill/>
          <a:ln/>
        </p:spPr>
        <p:txBody>
          <a:bodyPr wrap="square" lIns="0" tIns="0" rIns="0" bIns="0" rtlCol="0" anchor="t">
            <a:normAutofit/>
          </a:bodyPr>
          <a:lstStyle/>
          <a:p>
            <a:pPr algn="l" indent="0" marL="0">
              <a:lnSpc>
                <a:spcPct val="108000"/>
              </a:lnSpc>
              <a:buNone/>
            </a:pPr>
            <a:r>
              <a:rPr lang="en-US" sz="1550" spc="-8" kern="100" dirty="0">
                <a:solidFill>
                  <a:srgbClr val="E6E9FF"/>
                </a:solidFill>
                <a:latin typeface="Krona One" pitchFamily="34" charset="0"/>
                <a:ea typeface="Krona One" pitchFamily="34" charset="-122"/>
                <a:cs typeface="Krona One" pitchFamily="34" charset="-120"/>
              </a:rPr>
              <a:t>Check Duplicate</a:t>
            </a:r>
            <a:endParaRPr lang="en-US" sz="1550" dirty="0"/>
          </a:p>
        </p:txBody>
      </p:sp>
      <p:sp>
        <p:nvSpPr>
          <p:cNvPr id="12" name="Text 9"/>
          <p:cNvSpPr/>
          <p:nvPr/>
        </p:nvSpPr>
        <p:spPr>
          <a:xfrm>
            <a:off x="7108711" y="5407863"/>
            <a:ext cx="1753858" cy="353658"/>
          </a:xfrm>
          <a:prstGeom prst="rect">
            <a:avLst/>
          </a:prstGeom>
          <a:noFill/>
          <a:ln/>
        </p:spPr>
        <p:txBody>
          <a:bodyPr wrap="square" lIns="0" tIns="0" rIns="0" bIns="0" rtlCol="0" anchor="t">
            <a:normAutofit/>
          </a:bodyPr>
          <a:lstStyle/>
          <a:p>
            <a:pPr algn="l" indent="0" marL="0">
              <a:lnSpc>
                <a:spcPct val="113000"/>
              </a:lnSpc>
              <a:buNone/>
            </a:pPr>
            <a:r>
              <a:rPr lang="en-US" sz="1050" dirty="0">
                <a:solidFill>
                  <a:srgbClr val="E6E9FF"/>
                </a:solidFill>
                <a:latin typeface="Lexend" pitchFamily="34" charset="0"/>
                <a:ea typeface="Lexend" pitchFamily="34" charset="-122"/>
                <a:cs typeface="Lexend" pitchFamily="34" charset="-120"/>
              </a:rPr>
              <a:t>Verify student not already registered.</a:t>
            </a:r>
            <a:endParaRPr lang="en-US" sz="1050" dirty="0"/>
          </a:p>
        </p:txBody>
      </p:sp>
      <p:sp>
        <p:nvSpPr>
          <p:cNvPr id="13" name="Text 10"/>
          <p:cNvSpPr/>
          <p:nvPr/>
        </p:nvSpPr>
        <p:spPr>
          <a:xfrm>
            <a:off x="7880984" y="2392643"/>
            <a:ext cx="1753858" cy="514862"/>
          </a:xfrm>
          <a:prstGeom prst="rect">
            <a:avLst/>
          </a:prstGeom>
          <a:noFill/>
          <a:ln/>
        </p:spPr>
        <p:txBody>
          <a:bodyPr wrap="square" lIns="0" tIns="0" rIns="0" bIns="0" rtlCol="0" anchor="t">
            <a:normAutofit/>
          </a:bodyPr>
          <a:lstStyle/>
          <a:p>
            <a:pPr algn="l" indent="0" marL="0">
              <a:lnSpc>
                <a:spcPct val="108000"/>
              </a:lnSpc>
              <a:buNone/>
            </a:pPr>
            <a:r>
              <a:rPr lang="en-US" sz="1550" spc="-8" kern="100" dirty="0">
                <a:solidFill>
                  <a:srgbClr val="E6E9FF"/>
                </a:solidFill>
                <a:latin typeface="Krona One" pitchFamily="34" charset="0"/>
                <a:ea typeface="Krona One" pitchFamily="34" charset="-122"/>
                <a:cs typeface="Krona One" pitchFamily="34" charset="-120"/>
              </a:rPr>
              <a:t>Check Time Clash</a:t>
            </a:r>
            <a:endParaRPr lang="en-US" sz="1550" dirty="0"/>
          </a:p>
        </p:txBody>
      </p:sp>
      <p:sp>
        <p:nvSpPr>
          <p:cNvPr id="14" name="Text 11"/>
          <p:cNvSpPr/>
          <p:nvPr/>
        </p:nvSpPr>
        <p:spPr>
          <a:xfrm>
            <a:off x="7880984" y="2986095"/>
            <a:ext cx="1753858" cy="353658"/>
          </a:xfrm>
          <a:prstGeom prst="rect">
            <a:avLst/>
          </a:prstGeom>
          <a:noFill/>
          <a:ln/>
        </p:spPr>
        <p:txBody>
          <a:bodyPr wrap="square" lIns="0" tIns="0" rIns="0" bIns="0" rtlCol="0" anchor="t">
            <a:normAutofit/>
          </a:bodyPr>
          <a:lstStyle/>
          <a:p>
            <a:pPr algn="l" indent="0" marL="0">
              <a:lnSpc>
                <a:spcPct val="113000"/>
              </a:lnSpc>
              <a:buNone/>
            </a:pPr>
            <a:r>
              <a:rPr lang="en-US" sz="1050" dirty="0">
                <a:solidFill>
                  <a:srgbClr val="E6E9FF"/>
                </a:solidFill>
                <a:latin typeface="Lexend" pitchFamily="34" charset="0"/>
                <a:ea typeface="Lexend" pitchFamily="34" charset="-122"/>
                <a:cs typeface="Lexend" pitchFamily="34" charset="-120"/>
              </a:rPr>
              <a:t>Ensure no timetable conflicts occur.</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11048"/>
            <a:ext cx="11582110" cy="157361"/>
          </a:xfrm>
          <a:prstGeom prst="rect">
            <a:avLst/>
          </a:prstGeom>
          <a:noFill/>
          <a:ln/>
        </p:spPr>
        <p:txBody>
          <a:bodyPr wrap="none" lIns="0" tIns="0" rIns="0" bIns="0" rtlCol="0" anchor="t"/>
          <a:lstStyle/>
          <a:p>
            <a:pPr algn="l" indent="0" marL="0">
              <a:lnSpc>
                <a:spcPct val="100000"/>
              </a:lnSpc>
              <a:buNone/>
            </a:pPr>
            <a:r>
              <a:rPr lang="en-US" sz="1050" spc="62" kern="100" dirty="0">
                <a:solidFill>
                  <a:srgbClr val="27E0E3"/>
                </a:solidFill>
                <a:latin typeface="Martian Mono Medium" pitchFamily="34" charset="0"/>
                <a:ea typeface="Martian Mono Medium" pitchFamily="34" charset="-122"/>
                <a:cs typeface="Martian Mono Medium" pitchFamily="34" charset="-120"/>
              </a:rPr>
              <a:t>MODULE 2 · CONTROL FLOW</a:t>
            </a:r>
            <a:endParaRPr lang="en-US" sz="1050" dirty="0"/>
          </a:p>
        </p:txBody>
      </p:sp>
      <p:sp>
        <p:nvSpPr>
          <p:cNvPr id="3" name="Text 1"/>
          <p:cNvSpPr/>
          <p:nvPr/>
        </p:nvSpPr>
        <p:spPr>
          <a:xfrm>
            <a:off x="609585" y="855986"/>
            <a:ext cx="10972526" cy="324941"/>
          </a:xfrm>
          <a:prstGeom prst="rect">
            <a:avLst/>
          </a:prstGeom>
          <a:noFill/>
          <a:ln/>
        </p:spPr>
        <p:txBody>
          <a:bodyPr wrap="none" lIns="0" tIns="0" rIns="0" bIns="0" rtlCol="0" anchor="t"/>
          <a:lstStyle/>
          <a:p>
            <a:pPr algn="l" indent="0" marL="0">
              <a:lnSpc>
                <a:spcPct val="96000"/>
              </a:lnSpc>
              <a:buNone/>
            </a:pPr>
            <a:r>
              <a:rPr lang="en-US" sz="2250" spc="-11" kern="100" dirty="0">
                <a:solidFill>
                  <a:srgbClr val="FFFFFF"/>
                </a:solidFill>
                <a:latin typeface="Krona One" pitchFamily="34" charset="0"/>
                <a:ea typeface="Krona One" pitchFamily="34" charset="-122"/>
                <a:cs typeface="Krona One" pitchFamily="34" charset="-120"/>
              </a:rPr>
              <a:t>Module 2 controls every registration decision</a:t>
            </a:r>
            <a:endParaRPr lang="en-US" sz="2250" dirty="0"/>
          </a:p>
        </p:txBody>
      </p:sp>
      <p:sp>
        <p:nvSpPr>
          <p:cNvPr id="4" name="Shape 2"/>
          <p:cNvSpPr/>
          <p:nvPr/>
        </p:nvSpPr>
        <p:spPr>
          <a:xfrm>
            <a:off x="609585" y="1360488"/>
            <a:ext cx="2514537" cy="1518047"/>
          </a:xfrm>
          <a:prstGeom prst="roundRect">
            <a:avLst>
              <a:gd name="adj" fmla="val 6702"/>
            </a:avLst>
          </a:prstGeom>
          <a:solidFill>
            <a:srgbClr val="25255C"/>
          </a:solidFill>
          <a:ln/>
        </p:spPr>
      </p:sp>
      <p:sp>
        <p:nvSpPr>
          <p:cNvPr id="5" name="Text 3"/>
          <p:cNvSpPr/>
          <p:nvPr/>
        </p:nvSpPr>
        <p:spPr>
          <a:xfrm>
            <a:off x="838179" y="1599684"/>
            <a:ext cx="2057349" cy="262334"/>
          </a:xfrm>
          <a:prstGeom prst="rect">
            <a:avLst/>
          </a:prstGeom>
          <a:noFill/>
          <a:ln/>
        </p:spPr>
        <p:txBody>
          <a:bodyPr wrap="none" lIns="0" tIns="0" rIns="0" bIns="0" rtlCol="0" anchor="t"/>
          <a:lstStyle/>
          <a:p>
            <a:pPr algn="l" indent="0" marL="0">
              <a:lnSpc>
                <a:spcPct val="108000"/>
              </a:lnSpc>
              <a:buNone/>
            </a:pPr>
            <a:r>
              <a:rPr lang="en-US" sz="1600" spc="-8" kern="100" dirty="0">
                <a:solidFill>
                  <a:srgbClr val="E6E9FF"/>
                </a:solidFill>
                <a:latin typeface="Lexend Medium" pitchFamily="34" charset="0"/>
                <a:ea typeface="Lexend Medium" pitchFamily="34" charset="-122"/>
                <a:cs typeface="Lexend Medium" pitchFamily="34" charset="-120"/>
              </a:rPr>
              <a:t>if / else</a:t>
            </a:r>
            <a:endParaRPr lang="en-US" sz="1600" dirty="0"/>
          </a:p>
        </p:txBody>
      </p:sp>
      <p:sp>
        <p:nvSpPr>
          <p:cNvPr id="6" name="Text 4"/>
          <p:cNvSpPr/>
          <p:nvPr/>
        </p:nvSpPr>
        <p:spPr>
          <a:xfrm>
            <a:off x="838179" y="2001387"/>
            <a:ext cx="2057349" cy="660202"/>
          </a:xfrm>
          <a:prstGeom prst="rect">
            <a:avLst/>
          </a:prstGeom>
          <a:noFill/>
          <a:ln/>
        </p:spPr>
        <p:txBody>
          <a:bodyPr wrap="square" lIns="0" tIns="0" rIns="0" bIns="0" rtlCol="0" anchor="t">
            <a:normAutofit/>
          </a:bodyPr>
          <a:lstStyle/>
          <a:p>
            <a:pPr algn="l" indent="0" marL="0">
              <a:lnSpc>
                <a:spcPct val="101000"/>
              </a:lnSpc>
              <a:buNone/>
            </a:pPr>
            <a:r>
              <a:rPr lang="en-US" sz="1450" dirty="0">
                <a:solidFill>
                  <a:srgbClr val="E6E9FF"/>
                </a:solidFill>
                <a:latin typeface="Lexend" pitchFamily="34" charset="0"/>
                <a:ea typeface="Lexend" pitchFamily="34" charset="-122"/>
                <a:cs typeface="Lexend" pitchFamily="34" charset="-120"/>
              </a:rPr>
              <a:t>Validate input and handle registration outcomes.</a:t>
            </a:r>
            <a:endParaRPr lang="en-US" sz="1450" dirty="0"/>
          </a:p>
        </p:txBody>
      </p:sp>
      <p:sp>
        <p:nvSpPr>
          <p:cNvPr id="7" name="Shape 5"/>
          <p:cNvSpPr/>
          <p:nvPr/>
        </p:nvSpPr>
        <p:spPr>
          <a:xfrm>
            <a:off x="3428914" y="1360488"/>
            <a:ext cx="2514537" cy="1518047"/>
          </a:xfrm>
          <a:prstGeom prst="roundRect">
            <a:avLst>
              <a:gd name="adj" fmla="val 6702"/>
            </a:avLst>
          </a:prstGeom>
          <a:solidFill>
            <a:srgbClr val="25255C"/>
          </a:solidFill>
          <a:ln/>
        </p:spPr>
      </p:sp>
      <p:sp>
        <p:nvSpPr>
          <p:cNvPr id="8" name="Text 6"/>
          <p:cNvSpPr/>
          <p:nvPr/>
        </p:nvSpPr>
        <p:spPr>
          <a:xfrm>
            <a:off x="3657509" y="1599684"/>
            <a:ext cx="2057349" cy="262334"/>
          </a:xfrm>
          <a:prstGeom prst="rect">
            <a:avLst/>
          </a:prstGeom>
          <a:noFill/>
          <a:ln/>
        </p:spPr>
        <p:txBody>
          <a:bodyPr wrap="none" lIns="0" tIns="0" rIns="0" bIns="0" rtlCol="0" anchor="t"/>
          <a:lstStyle/>
          <a:p>
            <a:pPr algn="l" indent="0" marL="0">
              <a:lnSpc>
                <a:spcPct val="108000"/>
              </a:lnSpc>
              <a:buNone/>
            </a:pPr>
            <a:r>
              <a:rPr lang="en-US" sz="1600" spc="-8" kern="100" dirty="0">
                <a:solidFill>
                  <a:srgbClr val="E6E9FF"/>
                </a:solidFill>
                <a:latin typeface="Lexend Medium" pitchFamily="34" charset="0"/>
                <a:ea typeface="Lexend Medium" pitchFamily="34" charset="-122"/>
                <a:cs typeface="Lexend Medium" pitchFamily="34" charset="-120"/>
              </a:rPr>
              <a:t>switch</a:t>
            </a:r>
            <a:endParaRPr lang="en-US" sz="1600" dirty="0"/>
          </a:p>
        </p:txBody>
      </p:sp>
      <p:sp>
        <p:nvSpPr>
          <p:cNvPr id="9" name="Text 7"/>
          <p:cNvSpPr/>
          <p:nvPr/>
        </p:nvSpPr>
        <p:spPr>
          <a:xfrm>
            <a:off x="3657509" y="2001387"/>
            <a:ext cx="2285943" cy="220067"/>
          </a:xfrm>
          <a:prstGeom prst="rect">
            <a:avLst/>
          </a:prstGeom>
          <a:noFill/>
          <a:ln/>
        </p:spPr>
        <p:txBody>
          <a:bodyPr wrap="none" lIns="0" tIns="0" rIns="0" bIns="0" rtlCol="0" anchor="t"/>
          <a:lstStyle/>
          <a:p>
            <a:pPr algn="l" indent="0" marL="0">
              <a:lnSpc>
                <a:spcPct val="101000"/>
              </a:lnSpc>
              <a:buNone/>
            </a:pPr>
            <a:r>
              <a:rPr lang="en-US" sz="1450" dirty="0">
                <a:solidFill>
                  <a:srgbClr val="E6E9FF"/>
                </a:solidFill>
                <a:latin typeface="Lexend" pitchFamily="34" charset="0"/>
                <a:ea typeface="Lexend" pitchFamily="34" charset="-122"/>
                <a:cs typeface="Lexend" pitchFamily="34" charset="-120"/>
              </a:rPr>
              <a:t>Select menu actions.</a:t>
            </a:r>
            <a:endParaRPr lang="en-US" sz="1450" dirty="0"/>
          </a:p>
        </p:txBody>
      </p:sp>
      <p:sp>
        <p:nvSpPr>
          <p:cNvPr id="10" name="Shape 8"/>
          <p:cNvSpPr/>
          <p:nvPr/>
        </p:nvSpPr>
        <p:spPr>
          <a:xfrm>
            <a:off x="6248244" y="1360488"/>
            <a:ext cx="2514537" cy="1518047"/>
          </a:xfrm>
          <a:prstGeom prst="roundRect">
            <a:avLst>
              <a:gd name="adj" fmla="val 6702"/>
            </a:avLst>
          </a:prstGeom>
          <a:solidFill>
            <a:srgbClr val="25255C"/>
          </a:solidFill>
          <a:ln/>
        </p:spPr>
      </p:sp>
      <p:sp>
        <p:nvSpPr>
          <p:cNvPr id="11" name="Text 9"/>
          <p:cNvSpPr/>
          <p:nvPr/>
        </p:nvSpPr>
        <p:spPr>
          <a:xfrm>
            <a:off x="6476838" y="1599684"/>
            <a:ext cx="2057349" cy="262334"/>
          </a:xfrm>
          <a:prstGeom prst="rect">
            <a:avLst/>
          </a:prstGeom>
          <a:noFill/>
          <a:ln/>
        </p:spPr>
        <p:txBody>
          <a:bodyPr wrap="none" lIns="0" tIns="0" rIns="0" bIns="0" rtlCol="0" anchor="t"/>
          <a:lstStyle/>
          <a:p>
            <a:pPr algn="l" indent="0" marL="0">
              <a:lnSpc>
                <a:spcPct val="108000"/>
              </a:lnSpc>
              <a:buNone/>
            </a:pPr>
            <a:r>
              <a:rPr lang="en-US" sz="1600" spc="-8" kern="100" dirty="0">
                <a:solidFill>
                  <a:srgbClr val="E6E9FF"/>
                </a:solidFill>
                <a:latin typeface="Lexend Medium" pitchFamily="34" charset="0"/>
                <a:ea typeface="Lexend Medium" pitchFamily="34" charset="-122"/>
                <a:cs typeface="Lexend Medium" pitchFamily="34" charset="-120"/>
              </a:rPr>
              <a:t>for</a:t>
            </a:r>
            <a:endParaRPr lang="en-US" sz="1600" dirty="0"/>
          </a:p>
        </p:txBody>
      </p:sp>
      <p:sp>
        <p:nvSpPr>
          <p:cNvPr id="12" name="Text 10"/>
          <p:cNvSpPr/>
          <p:nvPr/>
        </p:nvSpPr>
        <p:spPr>
          <a:xfrm>
            <a:off x="6476838" y="2001387"/>
            <a:ext cx="2057349" cy="660202"/>
          </a:xfrm>
          <a:prstGeom prst="rect">
            <a:avLst/>
          </a:prstGeom>
          <a:noFill/>
          <a:ln/>
        </p:spPr>
        <p:txBody>
          <a:bodyPr wrap="square" lIns="0" tIns="0" rIns="0" bIns="0" rtlCol="0" anchor="t">
            <a:normAutofit/>
          </a:bodyPr>
          <a:lstStyle/>
          <a:p>
            <a:pPr algn="l" indent="0" marL="0">
              <a:lnSpc>
                <a:spcPct val="101000"/>
              </a:lnSpc>
              <a:buNone/>
            </a:pPr>
            <a:r>
              <a:rPr lang="en-US" sz="1450" dirty="0">
                <a:solidFill>
                  <a:srgbClr val="E6E9FF"/>
                </a:solidFill>
                <a:latin typeface="Lexend" pitchFamily="34" charset="0"/>
                <a:ea typeface="Lexend" pitchFamily="34" charset="-122"/>
                <a:cs typeface="Lexend" pitchFamily="34" charset="-120"/>
              </a:rPr>
              <a:t>Display courses with a standard or enhanced loop.</a:t>
            </a:r>
            <a:endParaRPr lang="en-US" sz="1450" dirty="0"/>
          </a:p>
        </p:txBody>
      </p:sp>
      <p:sp>
        <p:nvSpPr>
          <p:cNvPr id="13" name="Shape 11"/>
          <p:cNvSpPr/>
          <p:nvPr/>
        </p:nvSpPr>
        <p:spPr>
          <a:xfrm>
            <a:off x="9067573" y="1360488"/>
            <a:ext cx="2514537" cy="1518047"/>
          </a:xfrm>
          <a:prstGeom prst="roundRect">
            <a:avLst>
              <a:gd name="adj" fmla="val 6702"/>
            </a:avLst>
          </a:prstGeom>
          <a:solidFill>
            <a:srgbClr val="25255C"/>
          </a:solidFill>
          <a:ln/>
        </p:spPr>
      </p:sp>
      <p:sp>
        <p:nvSpPr>
          <p:cNvPr id="14" name="Text 12"/>
          <p:cNvSpPr/>
          <p:nvPr/>
        </p:nvSpPr>
        <p:spPr>
          <a:xfrm>
            <a:off x="9296167" y="1599684"/>
            <a:ext cx="2057349" cy="262334"/>
          </a:xfrm>
          <a:prstGeom prst="rect">
            <a:avLst/>
          </a:prstGeom>
          <a:noFill/>
          <a:ln/>
        </p:spPr>
        <p:txBody>
          <a:bodyPr wrap="none" lIns="0" tIns="0" rIns="0" bIns="0" rtlCol="0" anchor="t"/>
          <a:lstStyle/>
          <a:p>
            <a:pPr algn="l" indent="0" marL="0">
              <a:lnSpc>
                <a:spcPct val="108000"/>
              </a:lnSpc>
              <a:buNone/>
            </a:pPr>
            <a:r>
              <a:rPr lang="en-US" sz="1600" spc="-8" kern="100" dirty="0">
                <a:solidFill>
                  <a:srgbClr val="E6E9FF"/>
                </a:solidFill>
                <a:latin typeface="Lexend Medium" pitchFamily="34" charset="0"/>
                <a:ea typeface="Lexend Medium" pitchFamily="34" charset="-122"/>
                <a:cs typeface="Lexend Medium" pitchFamily="34" charset="-120"/>
              </a:rPr>
              <a:t>while</a:t>
            </a:r>
            <a:endParaRPr lang="en-US" sz="1600" dirty="0"/>
          </a:p>
        </p:txBody>
      </p:sp>
      <p:sp>
        <p:nvSpPr>
          <p:cNvPr id="15" name="Text 13"/>
          <p:cNvSpPr/>
          <p:nvPr/>
        </p:nvSpPr>
        <p:spPr>
          <a:xfrm>
            <a:off x="9296167" y="2001387"/>
            <a:ext cx="2057349" cy="440134"/>
          </a:xfrm>
          <a:prstGeom prst="rect">
            <a:avLst/>
          </a:prstGeom>
          <a:noFill/>
          <a:ln/>
        </p:spPr>
        <p:txBody>
          <a:bodyPr wrap="square" lIns="0" tIns="0" rIns="0" bIns="0" rtlCol="0" anchor="t">
            <a:normAutofit/>
          </a:bodyPr>
          <a:lstStyle/>
          <a:p>
            <a:pPr algn="l" indent="0" marL="0">
              <a:lnSpc>
                <a:spcPct val="101000"/>
              </a:lnSpc>
              <a:buNone/>
            </a:pPr>
            <a:r>
              <a:rPr lang="en-US" sz="1450" dirty="0">
                <a:solidFill>
                  <a:srgbClr val="E6E9FF"/>
                </a:solidFill>
                <a:latin typeface="Lexend" pitchFamily="34" charset="0"/>
                <a:ea typeface="Lexend" pitchFamily="34" charset="-122"/>
                <a:cs typeface="Lexend" pitchFamily="34" charset="-120"/>
              </a:rPr>
              <a:t>Repeat the menu until the user exits.</a:t>
            </a:r>
            <a:endParaRPr lang="en-US" sz="1450" dirty="0"/>
          </a:p>
        </p:txBody>
      </p:sp>
      <p:sp>
        <p:nvSpPr>
          <p:cNvPr id="16" name="Shape 14"/>
          <p:cNvSpPr/>
          <p:nvPr/>
        </p:nvSpPr>
        <p:spPr>
          <a:xfrm>
            <a:off x="914377" y="3552031"/>
            <a:ext cx="10362941" cy="2809081"/>
          </a:xfrm>
          <a:prstGeom prst="roundRect">
            <a:avLst>
              <a:gd name="adj" fmla="val 3622"/>
            </a:avLst>
          </a:prstGeom>
          <a:solidFill>
            <a:srgbClr val="1E1F66"/>
          </a:solidFill>
          <a:ln/>
        </p:spPr>
      </p:sp>
      <p:sp>
        <p:nvSpPr>
          <p:cNvPr id="17" name="Text 15"/>
          <p:cNvSpPr/>
          <p:nvPr/>
        </p:nvSpPr>
        <p:spPr>
          <a:xfrm>
            <a:off x="1204982" y="3794224"/>
            <a:ext cx="9781732" cy="2324695"/>
          </a:xfrm>
          <a:prstGeom prst="rect">
            <a:avLst/>
          </a:prstGeom>
          <a:noFill/>
          <a:ln/>
        </p:spPr>
        <p:txBody>
          <a:bodyPr wrap="square" lIns="0" tIns="0" rIns="0" bIns="0" rtlCol="0" anchor="t">
            <a:normAutofit/>
          </a:bodyPr>
          <a:lstStyle/>
          <a:p>
            <a:pPr algn="l" indent="0" marL="0">
              <a:lnSpc>
                <a:spcPct val="133000"/>
              </a:lnSpc>
              <a:buNone/>
            </a:pPr>
            <a:r>
              <a:rPr lang="en-US" sz="1900" dirty="0">
                <a:solidFill>
                  <a:srgbClr val="FF7B72"/>
                </a:solidFill>
                <a:latin typeface="Consolas" pitchFamily="34" charset="0"/>
                <a:ea typeface="Consolas" pitchFamily="34" charset="-122"/>
                <a:cs typeface="Consolas" pitchFamily="34" charset="-120"/>
              </a:rPr>
              <a:t>switch (choice) {</a:t>
            </a:r>
            <a:endParaRPr lang="en-US" sz="1900" dirty="0"/>
          </a:p>
          <a:p>
            <a:pPr algn="l" indent="0" marL="0">
              <a:lnSpc>
                <a:spcPct val="133000"/>
              </a:lnSpc>
              <a:buNone/>
            </a:pPr>
            <a:r>
              <a:rPr lang="en-US" sz="1900" dirty="0">
                <a:solidFill>
                  <a:srgbClr val="FF7B72"/>
                </a:solidFill>
                <a:latin typeface="Consolas" pitchFamily="34" charset="0"/>
                <a:ea typeface="Consolas" pitchFamily="34" charset="-122"/>
                <a:cs typeface="Consolas" pitchFamily="34" charset="-120"/>
              </a:rPr>
              <a:t>  case 1: showCourses(); break;</a:t>
            </a:r>
            <a:endParaRPr lang="en-US" sz="1900" dirty="0"/>
          </a:p>
          <a:p>
            <a:pPr algn="l" indent="0" marL="0">
              <a:lnSpc>
                <a:spcPct val="133000"/>
              </a:lnSpc>
              <a:buNone/>
            </a:pPr>
            <a:r>
              <a:rPr lang="en-US" sz="1900" dirty="0">
                <a:solidFill>
                  <a:srgbClr val="FF7B72"/>
                </a:solidFill>
                <a:latin typeface="Consolas" pitchFamily="34" charset="0"/>
                <a:ea typeface="Consolas" pitchFamily="34" charset="-122"/>
                <a:cs typeface="Consolas" pitchFamily="34" charset="-120"/>
              </a:rPr>
              <a:t>  case 2: registerCourse(); break;</a:t>
            </a:r>
            <a:endParaRPr lang="en-US" sz="1900" dirty="0"/>
          </a:p>
          <a:p>
            <a:pPr algn="l" indent="0" marL="0">
              <a:lnSpc>
                <a:spcPct val="133000"/>
              </a:lnSpc>
              <a:buNone/>
            </a:pPr>
            <a:r>
              <a:rPr lang="en-US" sz="1900" dirty="0">
                <a:solidFill>
                  <a:srgbClr val="FF7B72"/>
                </a:solidFill>
                <a:latin typeface="Consolas" pitchFamily="34" charset="0"/>
                <a:ea typeface="Consolas" pitchFamily="34" charset="-122"/>
                <a:cs typeface="Consolas" pitchFamily="34" charset="-120"/>
              </a:rPr>
              <a:t>  case 3: showTimetable(); break;</a:t>
            </a:r>
            <a:endParaRPr lang="en-US" sz="1900" dirty="0"/>
          </a:p>
          <a:p>
            <a:pPr algn="l" indent="0" marL="0">
              <a:lnSpc>
                <a:spcPct val="133000"/>
              </a:lnSpc>
              <a:buNone/>
            </a:pPr>
            <a:r>
              <a:rPr lang="en-US" sz="1900" dirty="0">
                <a:solidFill>
                  <a:srgbClr val="FF7B72"/>
                </a:solidFill>
                <a:latin typeface="Consolas" pitchFamily="34" charset="0"/>
                <a:ea typeface="Consolas" pitchFamily="34" charset="-122"/>
                <a:cs typeface="Consolas" pitchFamily="34" charset="-120"/>
              </a:rPr>
              <a:t>  case 4: exit = true; break;</a:t>
            </a:r>
            <a:endParaRPr lang="en-US" sz="1900" dirty="0"/>
          </a:p>
          <a:p>
            <a:pPr algn="l" indent="0" marL="0">
              <a:lnSpc>
                <a:spcPct val="133000"/>
              </a:lnSpc>
              <a:buNone/>
            </a:pPr>
            <a:r>
              <a:rPr lang="en-US" sz="1900" dirty="0">
                <a:solidFill>
                  <a:srgbClr val="FF7B72"/>
                </a:solidFill>
                <a:latin typeface="Consolas" pitchFamily="34" charset="0"/>
                <a:ea typeface="Consolas" pitchFamily="34" charset="-122"/>
                <a:cs typeface="Consolas" pitchFamily="34" charset="-120"/>
              </a:rPr>
              <a:t>}</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26745"/>
            <a:ext cx="11582110"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27E0E3"/>
                </a:solidFill>
                <a:latin typeface="Martian Mono Medium" pitchFamily="34" charset="0"/>
                <a:ea typeface="Martian Mono Medium" pitchFamily="34" charset="-122"/>
                <a:cs typeface="Martian Mono Medium" pitchFamily="34" charset="-120"/>
              </a:rPr>
              <a:t>MODULE 3 · METHODS AND ARRAYS</a:t>
            </a:r>
            <a:endParaRPr lang="en-US" sz="1300" dirty="0"/>
          </a:p>
        </p:txBody>
      </p:sp>
      <p:sp>
        <p:nvSpPr>
          <p:cNvPr id="3" name="Text 1"/>
          <p:cNvSpPr/>
          <p:nvPr/>
        </p:nvSpPr>
        <p:spPr>
          <a:xfrm>
            <a:off x="609585" y="946375"/>
            <a:ext cx="10972526" cy="408880"/>
          </a:xfrm>
          <a:prstGeom prst="rect">
            <a:avLst/>
          </a:prstGeom>
          <a:noFill/>
          <a:ln/>
        </p:spPr>
        <p:txBody>
          <a:bodyPr wrap="none" lIns="0" tIns="0" rIns="0" bIns="0" rtlCol="0" anchor="t"/>
          <a:lstStyle/>
          <a:p>
            <a:pPr algn="l" indent="0" marL="0">
              <a:lnSpc>
                <a:spcPct val="96000"/>
              </a:lnSpc>
              <a:buNone/>
            </a:pPr>
            <a:r>
              <a:rPr lang="en-US" sz="2800" spc="-14" kern="100" dirty="0">
                <a:solidFill>
                  <a:srgbClr val="FFFFFF"/>
                </a:solidFill>
                <a:latin typeface="Krona One" pitchFamily="34" charset="0"/>
                <a:ea typeface="Krona One" pitchFamily="34" charset="-122"/>
                <a:cs typeface="Krona One" pitchFamily="34" charset="-120"/>
              </a:rPr>
              <a:t>Module 3 keeps logic reusable and testable</a:t>
            </a:r>
            <a:endParaRPr lang="en-US" sz="2800" dirty="0"/>
          </a:p>
        </p:txBody>
      </p:sp>
      <p:sp>
        <p:nvSpPr>
          <p:cNvPr id="4" name="Text 2"/>
          <p:cNvSpPr/>
          <p:nvPr/>
        </p:nvSpPr>
        <p:spPr>
          <a:xfrm>
            <a:off x="609585" y="1641971"/>
            <a:ext cx="4206075" cy="3001962"/>
          </a:xfrm>
          <a:prstGeom prst="rect">
            <a:avLst/>
          </a:prstGeom>
          <a:noFill/>
          <a:ln/>
        </p:spPr>
        <p:txBody>
          <a:bodyPr wrap="square" lIns="0" tIns="0" rIns="0" bIns="0" rtlCol="0" anchor="t">
            <a:normAutofit/>
          </a:bodyPr>
          <a:lstStyle/>
          <a:p>
            <a:pPr algn="l" indent="0" marL="0">
              <a:lnSpc>
                <a:spcPct val="113000"/>
              </a:lnSpc>
              <a:spcAft>
                <a:spcPts val="1350"/>
              </a:spcAft>
              <a:buNone/>
            </a:pPr>
            <a:r>
              <a:rPr lang="en-US" sz="1800" b="1" dirty="0">
                <a:solidFill>
                  <a:srgbClr val="E6E9FF"/>
                </a:solidFill>
                <a:latin typeface="Lexend Bold" pitchFamily="34" charset="0"/>
                <a:ea typeface="Lexend Bold" pitchFamily="34" charset="-122"/>
                <a:cs typeface="Lexend Bold" pitchFamily="34" charset="-120"/>
              </a:rPr>
              <a:t>registerCourse()</a:t>
            </a:r>
            <a:pPr algn="l" indent="0" marL="0">
              <a:lnSpc>
                <a:spcPct val="113000"/>
              </a:lnSpc>
              <a:spcAft>
                <a:spcPts val="1350"/>
              </a:spcAft>
              <a:buNone/>
            </a:pPr>
            <a:r>
              <a:rPr lang="en-US" sz="1800" dirty="0">
                <a:solidFill>
                  <a:srgbClr val="E6E9FF"/>
                </a:solidFill>
                <a:latin typeface="Lexend" pitchFamily="34" charset="0"/>
                <a:ea typeface="Lexend" pitchFamily="34" charset="-122"/>
                <a:cs typeface="Lexend" pitchFamily="34" charset="-120"/>
              </a:rPr>
              <a:t> — registration sequence and checks.</a:t>
            </a:r>
            <a:endParaRPr lang="en-US" sz="1800" dirty="0"/>
          </a:p>
          <a:p>
            <a:pPr algn="l" indent="0" marL="0">
              <a:lnSpc>
                <a:spcPct val="113000"/>
              </a:lnSpc>
              <a:spcAft>
                <a:spcPts val="1350"/>
              </a:spcAft>
              <a:buNone/>
            </a:pPr>
            <a:r>
              <a:rPr lang="en-US" sz="1800" b="1" dirty="0">
                <a:solidFill>
                  <a:srgbClr val="E6E9FF"/>
                </a:solidFill>
                <a:latin typeface="Lexend Bold" pitchFamily="34" charset="0"/>
                <a:ea typeface="Lexend Bold" pitchFamily="34" charset="-122"/>
                <a:cs typeface="Lexend Bold" pitchFamily="34" charset="-120"/>
              </a:rPr>
              <a:t>hasClash()</a:t>
            </a:r>
            <a:pPr algn="l" indent="0" marL="0">
              <a:lnSpc>
                <a:spcPct val="113000"/>
              </a:lnSpc>
              <a:spcAft>
                <a:spcPts val="1350"/>
              </a:spcAft>
              <a:buNone/>
            </a:pPr>
            <a:r>
              <a:rPr lang="en-US" sz="1800" dirty="0">
                <a:solidFill>
                  <a:srgbClr val="E6E9FF"/>
                </a:solidFill>
                <a:latin typeface="Lexend" pitchFamily="34" charset="0"/>
                <a:ea typeface="Lexend" pitchFamily="34" charset="-122"/>
                <a:cs typeface="Lexend" pitchFamily="34" charset="-120"/>
              </a:rPr>
              <a:t> — timetable conflict detection.</a:t>
            </a:r>
            <a:endParaRPr lang="en-US" sz="1800" dirty="0"/>
          </a:p>
          <a:p>
            <a:pPr algn="l" indent="0" marL="0">
              <a:lnSpc>
                <a:spcPct val="113000"/>
              </a:lnSpc>
              <a:spcAft>
                <a:spcPts val="1350"/>
              </a:spcAft>
              <a:buNone/>
            </a:pPr>
            <a:r>
              <a:rPr lang="en-US" sz="1800" b="1" dirty="0">
                <a:solidFill>
                  <a:srgbClr val="E6E9FF"/>
                </a:solidFill>
                <a:latin typeface="Lexend Bold" pitchFamily="34" charset="0"/>
                <a:ea typeface="Lexend Bold" pitchFamily="34" charset="-122"/>
                <a:cs typeface="Lexend Bold" pitchFamily="34" charset="-120"/>
              </a:rPr>
              <a:t>showTimetable()</a:t>
            </a:r>
            <a:pPr algn="l" indent="0" marL="0">
              <a:lnSpc>
                <a:spcPct val="113000"/>
              </a:lnSpc>
              <a:spcAft>
                <a:spcPts val="1350"/>
              </a:spcAft>
              <a:buNone/>
            </a:pPr>
            <a:r>
              <a:rPr lang="en-US" sz="1800" dirty="0">
                <a:solidFill>
                  <a:srgbClr val="E6E9FF"/>
                </a:solidFill>
                <a:latin typeface="Lexend" pitchFamily="34" charset="0"/>
                <a:ea typeface="Lexend" pitchFamily="34" charset="-122"/>
                <a:cs typeface="Lexend" pitchFamily="34" charset="-120"/>
              </a:rPr>
              <a:t> — current weekly schedule.</a:t>
            </a:r>
            <a:endParaRPr lang="en-US" sz="1800" dirty="0"/>
          </a:p>
          <a:p>
            <a:pPr algn="l" indent="0" marL="0">
              <a:lnSpc>
                <a:spcPct val="113000"/>
              </a:lnSpc>
              <a:buNone/>
            </a:pPr>
            <a:r>
              <a:rPr lang="en-US" sz="1800" b="1" dirty="0">
                <a:solidFill>
                  <a:srgbClr val="E6E9FF"/>
                </a:solidFill>
                <a:latin typeface="Lexend Bold" pitchFamily="34" charset="0"/>
                <a:ea typeface="Lexend Bold" pitchFamily="34" charset="-122"/>
                <a:cs typeface="Lexend Bold" pitchFamily="34" charset="-120"/>
              </a:rPr>
              <a:t>getTotalCredits()</a:t>
            </a:r>
            <a:pPr algn="l" indent="0" marL="0">
              <a:lnSpc>
                <a:spcPct val="113000"/>
              </a:lnSpc>
              <a:buNone/>
            </a:pPr>
            <a:r>
              <a:rPr lang="en-US" sz="1800" dirty="0">
                <a:solidFill>
                  <a:srgbClr val="E6E9FF"/>
                </a:solidFill>
                <a:latin typeface="Lexend" pitchFamily="34" charset="0"/>
                <a:ea typeface="Lexend" pitchFamily="34" charset="-122"/>
                <a:cs typeface="Lexend" pitchFamily="34" charset="-120"/>
              </a:rPr>
              <a:t> — student’s registered credits.</a:t>
            </a:r>
            <a:endParaRPr lang="en-US" sz="1800" dirty="0"/>
          </a:p>
        </p:txBody>
      </p:sp>
      <p:sp>
        <p:nvSpPr>
          <p:cNvPr id="5" name="Text 3"/>
          <p:cNvSpPr/>
          <p:nvPr/>
        </p:nvSpPr>
        <p:spPr>
          <a:xfrm>
            <a:off x="609585" y="4830624"/>
            <a:ext cx="4206075" cy="462161"/>
          </a:xfrm>
          <a:prstGeom prst="rect">
            <a:avLst/>
          </a:prstGeom>
          <a:noFill/>
          <a:ln/>
        </p:spPr>
        <p:txBody>
          <a:bodyPr wrap="square" lIns="0" tIns="0" rIns="0" bIns="0" rtlCol="0" anchor="t">
            <a:normAutofit/>
          </a:bodyPr>
          <a:lstStyle/>
          <a:p>
            <a:pPr algn="l" indent="0" marL="0">
              <a:lnSpc>
                <a:spcPct val="108000"/>
              </a:lnSpc>
              <a:buNone/>
            </a:pPr>
            <a:r>
              <a:rPr lang="en-US" sz="1400" spc="14" kern="100" dirty="0">
                <a:solidFill>
                  <a:srgbClr val="B9BEEA"/>
                </a:solidFill>
                <a:latin typeface="Lexend" pitchFamily="34" charset="0"/>
                <a:ea typeface="Lexend" pitchFamily="34" charset="-122"/>
                <a:cs typeface="Lexend" pitchFamily="34" charset="-120"/>
              </a:rPr>
              <a:t>Arrays for days and time slots are useful when the timetable structure is fixed.</a:t>
            </a:r>
            <a:endParaRPr lang="en-US" sz="1400" dirty="0"/>
          </a:p>
        </p:txBody>
      </p:sp>
      <p:sp>
        <p:nvSpPr>
          <p:cNvPr id="6" name="Shape 4"/>
          <p:cNvSpPr/>
          <p:nvPr/>
        </p:nvSpPr>
        <p:spPr>
          <a:xfrm>
            <a:off x="5272749" y="1984871"/>
            <a:ext cx="6309361" cy="3535561"/>
          </a:xfrm>
          <a:prstGeom prst="roundRect">
            <a:avLst>
              <a:gd name="adj" fmla="val 3621"/>
            </a:avLst>
          </a:prstGeom>
          <a:solidFill>
            <a:srgbClr val="1E1F66"/>
          </a:solidFill>
          <a:ln/>
        </p:spPr>
      </p:sp>
      <p:sp>
        <p:nvSpPr>
          <p:cNvPr id="7" name="Text 5"/>
          <p:cNvSpPr/>
          <p:nvPr/>
        </p:nvSpPr>
        <p:spPr>
          <a:xfrm>
            <a:off x="5638461" y="2289671"/>
            <a:ext cx="5577939" cy="2925961"/>
          </a:xfrm>
          <a:prstGeom prst="rect">
            <a:avLst/>
          </a:prstGeom>
          <a:noFill/>
          <a:ln/>
        </p:spPr>
        <p:txBody>
          <a:bodyPr wrap="square" lIns="0" tIns="0" rIns="0" bIns="0" rtlCol="0" anchor="t">
            <a:normAutofit/>
          </a:bodyPr>
          <a:lstStyle/>
          <a:p>
            <a:pPr algn="l" indent="0" marL="0">
              <a:lnSpc>
                <a:spcPct val="133000"/>
              </a:lnSpc>
              <a:buNone/>
            </a:pPr>
            <a:r>
              <a:rPr lang="en-US" sz="2400" dirty="0">
                <a:solidFill>
                  <a:srgbClr val="FF7B72"/>
                </a:solidFill>
                <a:latin typeface="Consolas" pitchFamily="34" charset="0"/>
                <a:ea typeface="Consolas" pitchFamily="34" charset="-122"/>
                <a:cs typeface="Consolas" pitchFamily="34" charset="-120"/>
              </a:rPr>
              <a:t>int getTotalCredits() {</a:t>
            </a:r>
            <a:endParaRPr lang="en-US" sz="2400" dirty="0"/>
          </a:p>
          <a:p>
            <a:pPr algn="l" indent="0" marL="0">
              <a:lnSpc>
                <a:spcPct val="133000"/>
              </a:lnSpc>
              <a:buNone/>
            </a:pPr>
            <a:r>
              <a:rPr lang="en-US" sz="2400" dirty="0">
                <a:solidFill>
                  <a:srgbClr val="FF7B72"/>
                </a:solidFill>
                <a:latin typeface="Consolas" pitchFamily="34" charset="0"/>
                <a:ea typeface="Consolas" pitchFamily="34" charset="-122"/>
                <a:cs typeface="Consolas" pitchFamily="34" charset="-120"/>
              </a:rPr>
              <a:t>  int total = 0; for (Course c : registeredCourses) total += c.getCredits();</a:t>
            </a:r>
            <a:endParaRPr lang="en-US" sz="2400" dirty="0"/>
          </a:p>
          <a:p>
            <a:pPr algn="l" indent="0" marL="0">
              <a:lnSpc>
                <a:spcPct val="133000"/>
              </a:lnSpc>
              <a:buNone/>
            </a:pPr>
            <a:r>
              <a:rPr lang="en-US" sz="2400" dirty="0">
                <a:solidFill>
                  <a:srgbClr val="FF7B72"/>
                </a:solidFill>
                <a:latin typeface="Consolas" pitchFamily="34" charset="0"/>
                <a:ea typeface="Consolas" pitchFamily="34" charset="-122"/>
                <a:cs typeface="Consolas" pitchFamily="34" charset="-120"/>
              </a:rPr>
              <a:t>  return total;</a:t>
            </a:r>
            <a:endParaRPr lang="en-US" sz="2400" dirty="0"/>
          </a:p>
          <a:p>
            <a:pPr algn="l" indent="0" marL="0">
              <a:lnSpc>
                <a:spcPct val="133000"/>
              </a:lnSpc>
              <a:buNone/>
            </a:pPr>
            <a:r>
              <a:rPr lang="en-US" sz="2400" dirty="0">
                <a:solidFill>
                  <a:srgbClr val="FF7B72"/>
                </a:solidFill>
                <a:latin typeface="Consolas" pitchFamily="34" charset="0"/>
                <a:ea typeface="Consolas" pitchFamily="34" charset="-122"/>
                <a:cs typeface="Consolas" pitchFamily="34" charset="-120"/>
              </a:rPr>
              <a: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26745"/>
            <a:ext cx="11582110"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27E0E3"/>
                </a:solidFill>
                <a:latin typeface="Martian Mono Medium" pitchFamily="34" charset="0"/>
                <a:ea typeface="Martian Mono Medium" pitchFamily="34" charset="-122"/>
                <a:cs typeface="Martian Mono Medium" pitchFamily="34" charset="-120"/>
              </a:rPr>
              <a:t>MODULE 4 · OBJECT-ORIENTED MODEL</a:t>
            </a:r>
            <a:endParaRPr lang="en-US" sz="1300" dirty="0"/>
          </a:p>
        </p:txBody>
      </p:sp>
      <p:sp>
        <p:nvSpPr>
          <p:cNvPr id="3" name="Text 1"/>
          <p:cNvSpPr/>
          <p:nvPr/>
        </p:nvSpPr>
        <p:spPr>
          <a:xfrm>
            <a:off x="609585" y="946375"/>
            <a:ext cx="10972526" cy="817761"/>
          </a:xfrm>
          <a:prstGeom prst="rect">
            <a:avLst/>
          </a:prstGeom>
          <a:noFill/>
          <a:ln/>
        </p:spPr>
        <p:txBody>
          <a:bodyPr wrap="square" lIns="0" tIns="0" rIns="0" bIns="0" rtlCol="0" anchor="t">
            <a:normAutofit/>
          </a:bodyPr>
          <a:lstStyle/>
          <a:p>
            <a:pPr algn="l" indent="0" marL="0">
              <a:lnSpc>
                <a:spcPct val="96000"/>
              </a:lnSpc>
              <a:buNone/>
            </a:pPr>
            <a:r>
              <a:rPr lang="en-US" sz="2800" spc="-14" kern="100" dirty="0">
                <a:solidFill>
                  <a:srgbClr val="FFFFFF"/>
                </a:solidFill>
                <a:latin typeface="Krona One" pitchFamily="34" charset="0"/>
                <a:ea typeface="Krona One" pitchFamily="34" charset="-122"/>
                <a:cs typeface="Krona One" pitchFamily="34" charset="-120"/>
              </a:rPr>
              <a:t>Module 4 models students and courses as objects</a:t>
            </a:r>
            <a:endParaRPr lang="en-US" sz="2800" dirty="0"/>
          </a:p>
        </p:txBody>
      </p:sp>
      <p:sp>
        <p:nvSpPr>
          <p:cNvPr id="4" name="Shape 2"/>
          <p:cNvSpPr/>
          <p:nvPr/>
        </p:nvSpPr>
        <p:spPr>
          <a:xfrm>
            <a:off x="609585" y="2050852"/>
            <a:ext cx="5257668" cy="3652143"/>
          </a:xfrm>
          <a:prstGeom prst="rect">
            <a:avLst/>
          </a:prstGeom>
          <a:solidFill>
            <a:srgbClr val="1E1F66"/>
          </a:solidFill>
          <a:ln w="6350">
            <a:solidFill>
              <a:srgbClr val="2878FF"/>
            </a:solidFill>
            <a:prstDash val="solid"/>
          </a:ln>
        </p:spPr>
      </p:sp>
      <p:sp>
        <p:nvSpPr>
          <p:cNvPr id="5" name="Text 3"/>
          <p:cNvSpPr/>
          <p:nvPr/>
        </p:nvSpPr>
        <p:spPr>
          <a:xfrm>
            <a:off x="768331" y="2226747"/>
            <a:ext cx="5098922"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E6E9FF"/>
                </a:solidFill>
                <a:latin typeface="Martian Mono Medium" pitchFamily="34" charset="0"/>
                <a:ea typeface="Martian Mono Medium" pitchFamily="34" charset="-122"/>
                <a:cs typeface="Martian Mono Medium" pitchFamily="34" charset="-120"/>
              </a:rPr>
              <a:t>CLASS · STUDENT</a:t>
            </a:r>
            <a:endParaRPr lang="en-US" sz="1300" dirty="0"/>
          </a:p>
        </p:txBody>
      </p:sp>
      <p:sp>
        <p:nvSpPr>
          <p:cNvPr id="6" name="Text 4"/>
          <p:cNvSpPr/>
          <p:nvPr/>
        </p:nvSpPr>
        <p:spPr>
          <a:xfrm>
            <a:off x="768331" y="2546707"/>
            <a:ext cx="4940176" cy="396180"/>
          </a:xfrm>
          <a:prstGeom prst="rect">
            <a:avLst/>
          </a:prstGeom>
          <a:noFill/>
          <a:ln/>
        </p:spPr>
        <p:txBody>
          <a:bodyPr wrap="none" lIns="0" tIns="0" rIns="0" bIns="0" rtlCol="0" anchor="t"/>
          <a:lstStyle/>
          <a:p>
            <a:pPr algn="l" indent="0" marL="0">
              <a:lnSpc>
                <a:spcPct val="108000"/>
              </a:lnSpc>
              <a:buNone/>
            </a:pPr>
            <a:r>
              <a:rPr lang="en-US" sz="2400" spc="-12" kern="100" dirty="0">
                <a:solidFill>
                  <a:srgbClr val="E6E9FF"/>
                </a:solidFill>
                <a:latin typeface="Lexend Medium" pitchFamily="34" charset="0"/>
                <a:ea typeface="Lexend Medium" pitchFamily="34" charset="-122"/>
                <a:cs typeface="Lexend Medium" pitchFamily="34" charset="-120"/>
              </a:rPr>
              <a:t>Student</a:t>
            </a:r>
            <a:endParaRPr lang="en-US" sz="2400" dirty="0"/>
          </a:p>
        </p:txBody>
      </p:sp>
      <p:sp>
        <p:nvSpPr>
          <p:cNvPr id="7" name="Shape 5"/>
          <p:cNvSpPr/>
          <p:nvPr/>
        </p:nvSpPr>
        <p:spPr>
          <a:xfrm>
            <a:off x="768331" y="3222923"/>
            <a:ext cx="1630123" cy="38100"/>
          </a:xfrm>
          <a:prstGeom prst="roundRect">
            <a:avLst>
              <a:gd name="adj" fmla="val 49999"/>
            </a:avLst>
          </a:prstGeom>
          <a:solidFill>
            <a:srgbClr val="2878FF"/>
          </a:solidFill>
          <a:ln/>
        </p:spPr>
      </p:sp>
      <p:sp>
        <p:nvSpPr>
          <p:cNvPr id="8" name="Text 6"/>
          <p:cNvSpPr/>
          <p:nvPr/>
        </p:nvSpPr>
        <p:spPr>
          <a:xfrm>
            <a:off x="768331" y="3515023"/>
            <a:ext cx="4940176" cy="2029222"/>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E6E9FF"/>
                </a:solidFill>
                <a:latin typeface="Lexend" pitchFamily="34" charset="0"/>
                <a:ea typeface="Lexend" pitchFamily="34" charset="-122"/>
                <a:cs typeface="Lexend" pitchFamily="34" charset="-120"/>
              </a:rPr>
              <a:t>private studentId</a:t>
            </a:r>
            <a:endParaRPr lang="en-US" sz="1800" dirty="0"/>
          </a:p>
          <a:p>
            <a:pPr algn="l" indent="0" marL="0">
              <a:lnSpc>
                <a:spcPct val="113000"/>
              </a:lnSpc>
              <a:buNone/>
            </a:pPr>
            <a:r>
              <a:rPr lang="en-US" sz="1800" dirty="0">
                <a:solidFill>
                  <a:srgbClr val="E6E9FF"/>
                </a:solidFill>
                <a:latin typeface="Lexend" pitchFamily="34" charset="0"/>
                <a:ea typeface="Lexend" pitchFamily="34" charset="-122"/>
                <a:cs typeface="Lexend" pitchFamily="34" charset="-120"/>
              </a:rPr>
              <a:t>private studentName</a:t>
            </a:r>
            <a:endParaRPr lang="en-US" sz="1800" dirty="0"/>
          </a:p>
          <a:p>
            <a:pPr algn="l" indent="0" marL="0">
              <a:lnSpc>
                <a:spcPct val="113000"/>
              </a:lnSpc>
              <a:spcAft>
                <a:spcPts val="1350"/>
              </a:spcAft>
              <a:buNone/>
            </a:pPr>
            <a:r>
              <a:rPr lang="en-US" sz="1800" dirty="0">
                <a:solidFill>
                  <a:srgbClr val="E6E9FF"/>
                </a:solidFill>
                <a:latin typeface="Lexend" pitchFamily="34" charset="0"/>
                <a:ea typeface="Lexend" pitchFamily="34" charset="-122"/>
                <a:cs typeface="Lexend" pitchFamily="34" charset="-120"/>
              </a:rPr>
              <a:t>registeredCourses</a:t>
            </a:r>
            <a:endParaRPr lang="en-US" sz="1800" dirty="0"/>
          </a:p>
          <a:p>
            <a:pPr algn="l" indent="0" marL="0">
              <a:lnSpc>
                <a:spcPct val="113000"/>
              </a:lnSpc>
              <a:buNone/>
            </a:pPr>
            <a:r>
              <a:rPr lang="en-US" sz="1800" dirty="0">
                <a:solidFill>
                  <a:srgbClr val="E6E9FF"/>
                </a:solidFill>
                <a:latin typeface="Lexend" pitchFamily="34" charset="0"/>
                <a:ea typeface="Lexend" pitchFamily="34" charset="-122"/>
                <a:cs typeface="Lexend" pitchFamily="34" charset="-120"/>
              </a:rPr>
              <a:t>registerCourse()</a:t>
            </a:r>
            <a:endParaRPr lang="en-US" sz="1800" dirty="0"/>
          </a:p>
          <a:p>
            <a:pPr algn="l" indent="0" marL="0">
              <a:lnSpc>
                <a:spcPct val="113000"/>
              </a:lnSpc>
              <a:buNone/>
            </a:pPr>
            <a:r>
              <a:rPr lang="en-US" sz="1800" dirty="0">
                <a:solidFill>
                  <a:srgbClr val="E6E9FF"/>
                </a:solidFill>
                <a:latin typeface="Lexend" pitchFamily="34" charset="0"/>
                <a:ea typeface="Lexend" pitchFamily="34" charset="-122"/>
                <a:cs typeface="Lexend" pitchFamily="34" charset="-120"/>
              </a:rPr>
              <a:t>showTimetable()</a:t>
            </a:r>
            <a:endParaRPr lang="en-US" sz="1800" dirty="0"/>
          </a:p>
          <a:p>
            <a:pPr algn="l" indent="0" marL="0">
              <a:lnSpc>
                <a:spcPct val="113000"/>
              </a:lnSpc>
              <a:buNone/>
            </a:pPr>
            <a:r>
              <a:rPr lang="en-US" sz="1800" dirty="0">
                <a:solidFill>
                  <a:srgbClr val="E6E9FF"/>
                </a:solidFill>
                <a:latin typeface="Lexend" pitchFamily="34" charset="0"/>
                <a:ea typeface="Lexend" pitchFamily="34" charset="-122"/>
                <a:cs typeface="Lexend" pitchFamily="34" charset="-120"/>
              </a:rPr>
              <a:t>getTotalCredits()</a:t>
            </a:r>
            <a:endParaRPr lang="en-US" sz="1800" dirty="0"/>
          </a:p>
        </p:txBody>
      </p:sp>
      <p:sp>
        <p:nvSpPr>
          <p:cNvPr id="9" name="Shape 7"/>
          <p:cNvSpPr/>
          <p:nvPr/>
        </p:nvSpPr>
        <p:spPr>
          <a:xfrm>
            <a:off x="6324442" y="2050852"/>
            <a:ext cx="5257668" cy="3652143"/>
          </a:xfrm>
          <a:prstGeom prst="rect">
            <a:avLst/>
          </a:prstGeom>
          <a:solidFill>
            <a:srgbClr val="1E1F66"/>
          </a:solidFill>
          <a:ln w="6350">
            <a:solidFill>
              <a:srgbClr val="2878FF"/>
            </a:solidFill>
            <a:prstDash val="solid"/>
          </a:ln>
        </p:spPr>
      </p:sp>
      <p:sp>
        <p:nvSpPr>
          <p:cNvPr id="10" name="Text 8"/>
          <p:cNvSpPr/>
          <p:nvPr/>
        </p:nvSpPr>
        <p:spPr>
          <a:xfrm>
            <a:off x="6483188" y="2226747"/>
            <a:ext cx="5098922" cy="198041"/>
          </a:xfrm>
          <a:prstGeom prst="rect">
            <a:avLst/>
          </a:prstGeom>
          <a:noFill/>
          <a:ln/>
        </p:spPr>
        <p:txBody>
          <a:bodyPr wrap="none" lIns="0" tIns="0" rIns="0" bIns="0" rtlCol="0" anchor="t"/>
          <a:lstStyle/>
          <a:p>
            <a:pPr algn="l" indent="0" marL="0">
              <a:lnSpc>
                <a:spcPct val="100000"/>
              </a:lnSpc>
              <a:buNone/>
            </a:pPr>
            <a:r>
              <a:rPr lang="en-US" sz="1300" spc="78" kern="100" dirty="0">
                <a:solidFill>
                  <a:srgbClr val="E6E9FF"/>
                </a:solidFill>
                <a:latin typeface="Martian Mono Medium" pitchFamily="34" charset="0"/>
                <a:ea typeface="Martian Mono Medium" pitchFamily="34" charset="-122"/>
                <a:cs typeface="Martian Mono Medium" pitchFamily="34" charset="-120"/>
              </a:rPr>
              <a:t>CLASS · COURSE</a:t>
            </a:r>
            <a:endParaRPr lang="en-US" sz="1300" dirty="0"/>
          </a:p>
        </p:txBody>
      </p:sp>
      <p:sp>
        <p:nvSpPr>
          <p:cNvPr id="11" name="Text 9"/>
          <p:cNvSpPr/>
          <p:nvPr/>
        </p:nvSpPr>
        <p:spPr>
          <a:xfrm>
            <a:off x="6483188" y="2546707"/>
            <a:ext cx="4940176" cy="396180"/>
          </a:xfrm>
          <a:prstGeom prst="rect">
            <a:avLst/>
          </a:prstGeom>
          <a:noFill/>
          <a:ln/>
        </p:spPr>
        <p:txBody>
          <a:bodyPr wrap="none" lIns="0" tIns="0" rIns="0" bIns="0" rtlCol="0" anchor="t"/>
          <a:lstStyle/>
          <a:p>
            <a:pPr algn="l" indent="0" marL="0">
              <a:lnSpc>
                <a:spcPct val="108000"/>
              </a:lnSpc>
              <a:buNone/>
            </a:pPr>
            <a:r>
              <a:rPr lang="en-US" sz="2400" spc="-12" kern="100" dirty="0">
                <a:solidFill>
                  <a:srgbClr val="E6E9FF"/>
                </a:solidFill>
                <a:latin typeface="Lexend Medium" pitchFamily="34" charset="0"/>
                <a:ea typeface="Lexend Medium" pitchFamily="34" charset="-122"/>
                <a:cs typeface="Lexend Medium" pitchFamily="34" charset="-120"/>
              </a:rPr>
              <a:t>Course</a:t>
            </a:r>
            <a:endParaRPr lang="en-US" sz="2400" dirty="0"/>
          </a:p>
        </p:txBody>
      </p:sp>
      <p:sp>
        <p:nvSpPr>
          <p:cNvPr id="12" name="Shape 10"/>
          <p:cNvSpPr/>
          <p:nvPr/>
        </p:nvSpPr>
        <p:spPr>
          <a:xfrm>
            <a:off x="6483188" y="3222923"/>
            <a:ext cx="1630123" cy="38100"/>
          </a:xfrm>
          <a:prstGeom prst="roundRect">
            <a:avLst>
              <a:gd name="adj" fmla="val 49999"/>
            </a:avLst>
          </a:prstGeom>
          <a:solidFill>
            <a:srgbClr val="2878FF"/>
          </a:solidFill>
          <a:ln/>
        </p:spPr>
      </p:sp>
      <p:sp>
        <p:nvSpPr>
          <p:cNvPr id="13" name="Text 11"/>
          <p:cNvSpPr/>
          <p:nvPr/>
        </p:nvSpPr>
        <p:spPr>
          <a:xfrm>
            <a:off x="6483188" y="3515023"/>
            <a:ext cx="4940176" cy="2029222"/>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E6E9FF"/>
                </a:solidFill>
                <a:latin typeface="Lexend" pitchFamily="34" charset="0"/>
                <a:ea typeface="Lexend" pitchFamily="34" charset="-122"/>
                <a:cs typeface="Lexend" pitchFamily="34" charset="-120"/>
              </a:rPr>
              <a:t>private courseId</a:t>
            </a:r>
            <a:endParaRPr lang="en-US" sz="1800" dirty="0"/>
          </a:p>
          <a:p>
            <a:pPr algn="l" indent="0" marL="0">
              <a:lnSpc>
                <a:spcPct val="113000"/>
              </a:lnSpc>
              <a:buNone/>
            </a:pPr>
            <a:r>
              <a:rPr lang="en-US" sz="1800" dirty="0">
                <a:solidFill>
                  <a:srgbClr val="E6E9FF"/>
                </a:solidFill>
                <a:latin typeface="Lexend" pitchFamily="34" charset="0"/>
                <a:ea typeface="Lexend" pitchFamily="34" charset="-122"/>
                <a:cs typeface="Lexend" pitchFamily="34" charset="-120"/>
              </a:rPr>
              <a:t>private courseName</a:t>
            </a:r>
            <a:endParaRPr lang="en-US" sz="1800" dirty="0"/>
          </a:p>
          <a:p>
            <a:pPr algn="l" indent="0" marL="0">
              <a:lnSpc>
                <a:spcPct val="113000"/>
              </a:lnSpc>
              <a:buNone/>
            </a:pPr>
            <a:r>
              <a:rPr lang="en-US" sz="1800" dirty="0">
                <a:solidFill>
                  <a:srgbClr val="E6E9FF"/>
                </a:solidFill>
                <a:latin typeface="Lexend" pitchFamily="34" charset="0"/>
                <a:ea typeface="Lexend" pitchFamily="34" charset="-122"/>
                <a:cs typeface="Lexend" pitchFamily="34" charset="-120"/>
              </a:rPr>
              <a:t>day · startTime · endTime</a:t>
            </a:r>
            <a:endParaRPr lang="en-US" sz="1800" dirty="0"/>
          </a:p>
          <a:p>
            <a:pPr algn="l" indent="0" marL="0">
              <a:lnSpc>
                <a:spcPct val="113000"/>
              </a:lnSpc>
              <a:spcAft>
                <a:spcPts val="1350"/>
              </a:spcAft>
              <a:buNone/>
            </a:pPr>
            <a:r>
              <a:rPr lang="en-US" sz="1800" dirty="0">
                <a:solidFill>
                  <a:srgbClr val="E6E9FF"/>
                </a:solidFill>
                <a:latin typeface="Lexend" pitchFamily="34" charset="0"/>
                <a:ea typeface="Lexend" pitchFamily="34" charset="-122"/>
                <a:cs typeface="Lexend" pitchFamily="34" charset="-120"/>
              </a:rPr>
              <a:t>credits</a:t>
            </a:r>
            <a:endParaRPr lang="en-US" sz="1800" dirty="0"/>
          </a:p>
          <a:p>
            <a:pPr algn="l" indent="0" marL="0">
              <a:lnSpc>
                <a:spcPct val="113000"/>
              </a:lnSpc>
              <a:buNone/>
            </a:pPr>
            <a:r>
              <a:rPr lang="en-US" sz="1800" dirty="0">
                <a:solidFill>
                  <a:srgbClr val="E6E9FF"/>
                </a:solidFill>
                <a:latin typeface="Lexend" pitchFamily="34" charset="0"/>
                <a:ea typeface="Lexend" pitchFamily="34" charset="-122"/>
                <a:cs typeface="Lexend" pitchFamily="34" charset="-120"/>
              </a:rPr>
              <a:t>constructors · getters</a:t>
            </a:r>
            <a:endParaRPr lang="en-US" sz="1800" dirty="0"/>
          </a:p>
          <a:p>
            <a:pPr algn="l" indent="0" marL="0">
              <a:lnSpc>
                <a:spcPct val="113000"/>
              </a:lnSpc>
              <a:buNone/>
            </a:pPr>
            <a:r>
              <a:rPr lang="en-US" sz="1800" dirty="0">
                <a:solidFill>
                  <a:srgbClr val="E6E9FF"/>
                </a:solidFill>
                <a:latin typeface="Lexend" pitchFamily="34" charset="0"/>
                <a:ea typeface="Lexend" pitchFamily="34" charset="-122"/>
                <a:cs typeface="Lexend" pitchFamily="34" charset="-120"/>
              </a:rPr>
              <a:t>this · toString()</a:t>
            </a:r>
            <a:endParaRPr lang="en-US" sz="1800" dirty="0"/>
          </a:p>
        </p:txBody>
      </p:sp>
      <p:sp>
        <p:nvSpPr>
          <p:cNvPr id="14" name="Text 12"/>
          <p:cNvSpPr/>
          <p:nvPr/>
        </p:nvSpPr>
        <p:spPr>
          <a:xfrm>
            <a:off x="304792" y="5984934"/>
            <a:ext cx="11582110" cy="237430"/>
          </a:xfrm>
          <a:prstGeom prst="rect">
            <a:avLst/>
          </a:prstGeom>
          <a:noFill/>
          <a:ln/>
        </p:spPr>
        <p:txBody>
          <a:bodyPr wrap="none" lIns="0" tIns="0" rIns="0" bIns="0" rtlCol="0" anchor="t"/>
          <a:lstStyle/>
          <a:p>
            <a:pPr algn="ctr" indent="0" marL="0">
              <a:lnSpc>
                <a:spcPct val="108000"/>
              </a:lnSpc>
              <a:buNone/>
            </a:pPr>
            <a:r>
              <a:rPr lang="en-US" sz="1400" spc="14" kern="100" dirty="0">
                <a:solidFill>
                  <a:srgbClr val="B9BEEA"/>
                </a:solidFill>
                <a:latin typeface="Lexend" pitchFamily="34" charset="0"/>
                <a:ea typeface="Lexend" pitchFamily="34" charset="-122"/>
                <a:cs typeface="Lexend" pitchFamily="34" charset="-120"/>
              </a:rPr>
              <a:t>Student </a:t>
            </a:r>
            <a:pPr algn="ctr" indent="0" marL="0">
              <a:lnSpc>
                <a:spcPct val="108000"/>
              </a:lnSpc>
              <a:buNone/>
            </a:pPr>
            <a:r>
              <a:rPr lang="en-US" sz="1400" spc="14" kern="100" dirty="0">
                <a:solidFill>
                  <a:srgbClr val="000000"/>
                </a:solidFill>
                <a:latin typeface="Noto Color Emoji" pitchFamily="34" charset="0"/>
                <a:ea typeface="Noto Color Emoji" pitchFamily="34" charset="-122"/>
                <a:cs typeface="Noto Color Emoji" pitchFamily="34" charset="-120"/>
              </a:rPr>
              <a:t>↔</a:t>
            </a:r>
            <a:pPr algn="ctr" indent="0" marL="0">
              <a:lnSpc>
                <a:spcPct val="108000"/>
              </a:lnSpc>
              <a:buNone/>
            </a:pPr>
            <a:r>
              <a:rPr lang="en-US" sz="1400" spc="14" kern="100" dirty="0">
                <a:solidFill>
                  <a:srgbClr val="B9BEEA"/>
                </a:solidFill>
                <a:latin typeface="Lexend" pitchFamily="34" charset="0"/>
                <a:ea typeface="Lexend" pitchFamily="34" charset="-122"/>
                <a:cs typeface="Lexend" pitchFamily="34" charset="-120"/>
              </a:rPr>
              <a:t> Course · object references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609600"/>
            <a:ext cx="11582110" cy="118765"/>
          </a:xfrm>
          <a:prstGeom prst="rect">
            <a:avLst/>
          </a:prstGeom>
          <a:noFill/>
          <a:ln/>
        </p:spPr>
        <p:txBody>
          <a:bodyPr wrap="none" lIns="0" tIns="0" rIns="0" bIns="0" rtlCol="0" anchor="t"/>
          <a:lstStyle/>
          <a:p>
            <a:pPr algn="l" indent="0" marL="0">
              <a:lnSpc>
                <a:spcPct val="100000"/>
              </a:lnSpc>
              <a:buNone/>
            </a:pPr>
            <a:r>
              <a:rPr lang="en-US" sz="800" spc="47" kern="100" dirty="0">
                <a:solidFill>
                  <a:srgbClr val="27E0E3"/>
                </a:solidFill>
                <a:latin typeface="Martian Mono Medium" pitchFamily="34" charset="0"/>
                <a:ea typeface="Martian Mono Medium" pitchFamily="34" charset="-122"/>
                <a:cs typeface="Martian Mono Medium" pitchFamily="34" charset="-120"/>
              </a:rPr>
              <a:t>VALIDATION AND ERROR HANDLING</a:t>
            </a:r>
            <a:endParaRPr lang="en-US" sz="800" dirty="0"/>
          </a:p>
        </p:txBody>
      </p:sp>
      <p:sp>
        <p:nvSpPr>
          <p:cNvPr id="3" name="Text 1"/>
          <p:cNvSpPr/>
          <p:nvPr/>
        </p:nvSpPr>
        <p:spPr>
          <a:xfrm>
            <a:off x="609585" y="781296"/>
            <a:ext cx="10972526" cy="245269"/>
          </a:xfrm>
          <a:prstGeom prst="rect">
            <a:avLst/>
          </a:prstGeom>
          <a:noFill/>
          <a:ln/>
        </p:spPr>
        <p:txBody>
          <a:bodyPr wrap="none" lIns="0" tIns="0" rIns="0" bIns="0" rtlCol="0" anchor="t"/>
          <a:lstStyle/>
          <a:p>
            <a:pPr algn="l" indent="0" marL="0">
              <a:lnSpc>
                <a:spcPct val="96000"/>
              </a:lnSpc>
              <a:buNone/>
            </a:pPr>
            <a:r>
              <a:rPr lang="en-US" sz="1700" spc="-8" kern="100" dirty="0">
                <a:solidFill>
                  <a:srgbClr val="FFFFFF"/>
                </a:solidFill>
                <a:latin typeface="Krona One" pitchFamily="34" charset="0"/>
                <a:ea typeface="Krona One" pitchFamily="34" charset="-122"/>
                <a:cs typeface="Krona One" pitchFamily="34" charset="-120"/>
              </a:rPr>
              <a:t>Validation prevents crashes from becoming user problems</a:t>
            </a:r>
            <a:endParaRPr lang="en-US" sz="1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09585" y="1126728"/>
          <a:ext cx="10972526" cy="914400"/>
        </p:xfrm>
        <a:graphic>
          <a:graphicData uri="http://schemas.openxmlformats.org/drawingml/2006/table">
            <a:tbl>
              <a:tblPr/>
              <a:tblGrid>
                <a:gridCol w="2155870"/>
                <a:gridCol w="3260247"/>
                <a:gridCol w="3265108"/>
                <a:gridCol w="1250125"/>
                <a:gridCol w="1041176"/>
              </a:tblGrid>
              <a:tr h="350035">
                <a:tc>
                  <a:txBody>
                    <a:bodyPr/>
                    <a:lstStyle/>
                    <a:p>
                      <a:pPr algn="l" indent="0" marL="0">
                        <a:buNone/>
                      </a:pPr>
                      <a:r>
                        <a:rPr lang="en-US" sz="1450" dirty="0">
                          <a:solidFill>
                            <a:srgbClr val="FFFFFF"/>
                          </a:solidFill>
                          <a:latin typeface="Lexend" pitchFamily="34" charset="0"/>
                          <a:ea typeface="Lexend" pitchFamily="34" charset="-122"/>
                          <a:cs typeface="Lexend" pitchFamily="34" charset="-120"/>
                        </a:rPr>
                        <a:t>Failure point</a:t>
                      </a:r>
                      <a:endParaRPr lang="en-US" sz="1450" dirty="0">
                        <a:latin typeface="Lexend" charset="0"/>
                        <a:ea typeface="Lexend" charset="0"/>
                        <a:cs typeface="Lexend" charset="0"/>
                      </a:endParaRPr>
                    </a:p>
                  </a:txBody>
                  <a:tcPr marL="137157" marR="137157" marT="73150" marB="73150" anchor="ctr">
                    <a:lnL w="12700" cap="flat" cmpd="sng" algn="ctr">
                      <a:solidFill>
                        <a:srgbClr val="15154C"/>
                      </a:solidFill>
                      <a:prstDash val="solid"/>
                      <a:round/>
                      <a:headEnd type="none" w="med" len="med"/>
                      <a:tailEnd type="none" w="med" len="med"/>
                    </a:lnL>
                    <a:lnR w="12700" cap="flat" cmpd="sng" algn="ctr">
                      <a:solidFill>
                        <a:srgbClr val="15154C"/>
                      </a:solidFill>
                      <a:prstDash val="solid"/>
                      <a:round/>
                      <a:headEnd type="none" w="med" len="med"/>
                      <a:tailEnd type="none" w="med" len="med"/>
                    </a:lnR>
                    <a:lnT w="12700" cap="flat" cmpd="sng" algn="ctr">
                      <a:solidFill>
                        <a:srgbClr val="15154C"/>
                      </a:solidFill>
                      <a:prstDash val="solid"/>
                      <a:round/>
                      <a:headEnd type="none" w="med" len="med"/>
                      <a:tailEnd type="none" w="med" len="med"/>
                    </a:lnT>
                    <a:lnB w="12700" cap="flat" cmpd="sng" algn="ctr">
                      <a:solidFill>
                        <a:srgbClr val="1F4BAE"/>
                      </a:solidFill>
                      <a:prstDash val="solid"/>
                      <a:round/>
                      <a:headEnd type="none" w="med" len="med"/>
                      <a:tailEnd type="none" w="med" len="med"/>
                    </a:lnB>
                  </a:tcPr>
                </a:tc>
                <a:tc>
                  <a:txBody>
                    <a:bodyPr/>
                    <a:lstStyle/>
                    <a:p>
                      <a:pPr algn="l" indent="0" marL="0">
                        <a:buNone/>
                      </a:pPr>
                      <a:r>
                        <a:rPr lang="en-US" sz="1450" dirty="0">
                          <a:solidFill>
                            <a:srgbClr val="FFFFFF"/>
                          </a:solidFill>
                          <a:latin typeface="Lexend" pitchFamily="34" charset="0"/>
                          <a:ea typeface="Lexend" pitchFamily="34" charset="-122"/>
                          <a:cs typeface="Lexend" pitchFamily="34" charset="-120"/>
                        </a:rPr>
                        <a:t>What can happen</a:t>
                      </a:r>
                      <a:endParaRPr lang="en-US" sz="1450" dirty="0">
                        <a:latin typeface="Lexend" charset="0"/>
                        <a:ea typeface="Lexend" charset="0"/>
                        <a:cs typeface="Lexend" charset="0"/>
                      </a:endParaRPr>
                    </a:p>
                  </a:txBody>
                  <a:tcPr marL="137157" marR="137157" marT="73150" marB="73150" anchor="ctr">
                    <a:lnL w="12700" cap="flat" cmpd="sng" algn="ctr">
                      <a:solidFill>
                        <a:srgbClr val="15154C"/>
                      </a:solidFill>
                      <a:prstDash val="solid"/>
                      <a:round/>
                      <a:headEnd type="none" w="med" len="med"/>
                      <a:tailEnd type="none" w="med" len="med"/>
                    </a:lnL>
                    <a:lnR w="12700" cap="flat" cmpd="sng" algn="ctr">
                      <a:solidFill>
                        <a:srgbClr val="15154C"/>
                      </a:solidFill>
                      <a:prstDash val="solid"/>
                      <a:round/>
                      <a:headEnd type="none" w="med" len="med"/>
                      <a:tailEnd type="none" w="med" len="med"/>
                    </a:lnR>
                    <a:lnT w="12700" cap="flat" cmpd="sng" algn="ctr">
                      <a:solidFill>
                        <a:srgbClr val="15154C"/>
                      </a:solidFill>
                      <a:prstDash val="solid"/>
                      <a:round/>
                      <a:headEnd type="none" w="med" len="med"/>
                      <a:tailEnd type="none" w="med" len="med"/>
                    </a:lnT>
                    <a:lnB w="12700" cap="flat" cmpd="sng" algn="ctr">
                      <a:solidFill>
                        <a:srgbClr val="1F4BAE"/>
                      </a:solidFill>
                      <a:prstDash val="solid"/>
                      <a:round/>
                      <a:headEnd type="none" w="med" len="med"/>
                      <a:tailEnd type="none" w="med" len="med"/>
                    </a:lnB>
                  </a:tcPr>
                </a:tc>
                <a:tc>
                  <a:txBody>
                    <a:bodyPr/>
                    <a:lstStyle/>
                    <a:p>
                      <a:pPr algn="l" indent="0" marL="0">
                        <a:buNone/>
                      </a:pPr>
                      <a:r>
                        <a:rPr lang="en-US" sz="1450" dirty="0">
                          <a:solidFill>
                            <a:srgbClr val="FFFFFF"/>
                          </a:solidFill>
                          <a:latin typeface="Lexend" pitchFamily="34" charset="0"/>
                          <a:ea typeface="Lexend" pitchFamily="34" charset="-122"/>
                          <a:cs typeface="Lexend" pitchFamily="34" charset="-120"/>
                        </a:rPr>
                        <a:t>Response</a:t>
                      </a:r>
                      <a:endParaRPr lang="en-US" sz="1450" dirty="0">
                        <a:latin typeface="Lexend" charset="0"/>
                        <a:ea typeface="Lexend" charset="0"/>
                        <a:cs typeface="Lexend" charset="0"/>
                      </a:endParaRPr>
                    </a:p>
                  </a:txBody>
                  <a:tcPr marL="137157" marR="137157" marT="73150" marB="73150" anchor="ctr">
                    <a:lnL w="12700" cap="flat" cmpd="sng" algn="ctr">
                      <a:solidFill>
                        <a:srgbClr val="15154C"/>
                      </a:solidFill>
                      <a:prstDash val="solid"/>
                      <a:round/>
                      <a:headEnd type="none" w="med" len="med"/>
                      <a:tailEnd type="none" w="med" len="med"/>
                    </a:lnL>
                    <a:lnR w="12700" cap="flat" cmpd="sng" algn="ctr">
                      <a:solidFill>
                        <a:srgbClr val="15154C"/>
                      </a:solidFill>
                      <a:prstDash val="solid"/>
                      <a:round/>
                      <a:headEnd type="none" w="med" len="med"/>
                      <a:tailEnd type="none" w="med" len="med"/>
                    </a:lnR>
                    <a:lnT w="12700" cap="flat" cmpd="sng" algn="ctr">
                      <a:solidFill>
                        <a:srgbClr val="15154C"/>
                      </a:solidFill>
                      <a:prstDash val="solid"/>
                      <a:round/>
                      <a:headEnd type="none" w="med" len="med"/>
                      <a:tailEnd type="none" w="med" len="med"/>
                    </a:lnT>
                    <a:lnB w="12700" cap="flat" cmpd="sng" algn="ctr">
                      <a:solidFill>
                        <a:srgbClr val="1F4BAE"/>
                      </a:solidFill>
                      <a:prstDash val="solid"/>
                      <a:round/>
                      <a:headEnd type="none" w="med" len="med"/>
                      <a:tailEnd type="none" w="med" len="med"/>
                    </a:lnB>
                  </a:tcPr>
                </a:tc>
                <a:tc>
                  <a:txBody>
                    <a:bodyPr/>
                    <a:lstStyle/>
                    <a:p>
                      <a:pPr indent="0" marL="0">
                        <a:buNone/>
                      </a:pPr>
                      <a:endParaRPr lang="en-US" sz="1450" dirty="0">
                        <a:latin typeface="Lexend" charset="0"/>
                        <a:ea typeface="Lexend" charset="0"/>
                        <a:cs typeface="Lexend" charset="0"/>
                      </a:endParaRPr>
                    </a:p>
                  </a:txBody>
                  <a:tcPr marL="137157" marR="137157" marT="73150" marB="73150" anchor="ctr">
                    <a:lnL w="12700" cap="flat" cmpd="sng" algn="ctr">
                      <a:solidFill>
                        <a:srgbClr val="15154C"/>
                      </a:solidFill>
                      <a:prstDash val="solid"/>
                      <a:round/>
                      <a:headEnd type="none" w="med" len="med"/>
                      <a:tailEnd type="none" w="med" len="med"/>
                    </a:lnL>
                    <a:lnR w="12700" cap="flat" cmpd="sng" algn="ctr">
                      <a:solidFill>
                        <a:srgbClr val="15154C"/>
                      </a:solidFill>
                      <a:prstDash val="solid"/>
                      <a:round/>
                      <a:headEnd type="none" w="med" len="med"/>
                      <a:tailEnd type="none" w="med" len="med"/>
                    </a:lnR>
                    <a:lnT w="12700" cap="flat" cmpd="sng" algn="ctr">
                      <a:solidFill>
                        <a:srgbClr val="15154C"/>
                      </a:solidFill>
                      <a:prstDash val="solid"/>
                      <a:round/>
                      <a:headEnd type="none" w="med" len="med"/>
                      <a:tailEnd type="none" w="med" len="med"/>
                    </a:lnT>
                    <a:lnB w="12700" cap="flat" cmpd="sng" algn="ctr">
                      <a:solidFill>
                        <a:srgbClr val="1F4BAE"/>
                      </a:solidFill>
                      <a:prstDash val="solid"/>
                      <a:round/>
                      <a:headEnd type="none" w="med" len="med"/>
                      <a:tailEnd type="none" w="med" len="med"/>
                    </a:lnB>
                  </a:tcPr>
                </a:tc>
                <a:tc>
                  <a:txBody>
                    <a:bodyPr/>
                    <a:lstStyle/>
                    <a:p>
                      <a:pPr indent="0" marL="0">
                        <a:buNone/>
                      </a:pPr>
                      <a:endParaRPr lang="en-US" sz="1450" dirty="0">
                        <a:latin typeface="Lexend" charset="0"/>
                        <a:ea typeface="Lexend" charset="0"/>
                        <a:cs typeface="Lexend" charset="0"/>
                      </a:endParaRPr>
                    </a:p>
                  </a:txBody>
                  <a:tcPr marL="137157" marR="137157" marT="73150" marB="73150" anchor="ctr">
                    <a:lnL w="12700" cap="flat" cmpd="sng" algn="ctr">
                      <a:solidFill>
                        <a:srgbClr val="15154C"/>
                      </a:solidFill>
                      <a:prstDash val="solid"/>
                      <a:round/>
                      <a:headEnd type="none" w="med" len="med"/>
                      <a:tailEnd type="none" w="med" len="med"/>
                    </a:lnL>
                    <a:lnR w="12700" cap="flat" cmpd="sng" algn="ctr">
                      <a:solidFill>
                        <a:srgbClr val="15154C"/>
                      </a:solidFill>
                      <a:prstDash val="solid"/>
                      <a:round/>
                      <a:headEnd type="none" w="med" len="med"/>
                      <a:tailEnd type="none" w="med" len="med"/>
                    </a:lnR>
                    <a:lnT w="12700" cap="flat" cmpd="sng" algn="ctr">
                      <a:solidFill>
                        <a:srgbClr val="15154C"/>
                      </a:solidFill>
                      <a:prstDash val="solid"/>
                      <a:round/>
                      <a:headEnd type="none" w="med" len="med"/>
                      <a:tailEnd type="none" w="med" len="med"/>
                    </a:lnT>
                    <a:lnB w="12700" cap="flat" cmpd="sng" algn="ctr">
                      <a:solidFill>
                        <a:srgbClr val="1F4BAE"/>
                      </a:solidFill>
                      <a:prstDash val="solid"/>
                      <a:round/>
                      <a:headEnd type="none" w="med" len="med"/>
                      <a:tailEnd type="none" w="med" len="med"/>
                    </a:lnB>
                  </a:tcPr>
                </a:tc>
              </a:tr>
              <a:tr h="1139797">
                <a:tc>
                  <a:txBody>
                    <a:bodyPr/>
                    <a:lstStyle/>
                    <a:p>
                      <a:pPr algn="l" indent="0" marL="0">
                        <a:buNone/>
                      </a:pPr>
                      <a:r>
                        <a:rPr lang="en-US" sz="1450" dirty="0">
                          <a:solidFill>
                            <a:srgbClr val="E6E9FF"/>
                          </a:solidFill>
                          <a:latin typeface="Lexend" pitchFamily="34" charset="0"/>
                          <a:ea typeface="Lexend" pitchFamily="34" charset="-122"/>
                          <a:cs typeface="Lexend" pitchFamily="34" charset="-120"/>
                        </a:rPr>
                        <a:t>Menu choice</a:t>
                      </a:r>
                      <a:endParaRPr lang="en-US" sz="1450" dirty="0">
                        <a:latin typeface="Lexend" charset="0"/>
                        <a:ea typeface="Lexend" charset="0"/>
                        <a:cs typeface="Lexend" charset="0"/>
                      </a:endParaRPr>
                    </a:p>
                  </a:txBody>
                  <a:tcPr marL="137157" marR="137157" marT="73150" marB="73150" anchor="ctr">
                    <a:lnL w="12700" cap="flat" cmpd="sng" algn="ctr">
                      <a:solidFill>
                        <a:srgbClr val="15154C"/>
                      </a:solidFill>
                      <a:prstDash val="solid"/>
                      <a:round/>
                      <a:headEnd type="none" w="med" len="med"/>
                      <a:tailEnd type="none" w="med" len="med"/>
                    </a:lnL>
                    <a:lnR w="12700" cap="flat" cmpd="sng" algn="ctr">
                      <a:solidFill>
                        <a:srgbClr val="15154C"/>
                      </a:solidFill>
                      <a:prstDash val="solid"/>
                      <a:round/>
                      <a:headEnd type="none" w="med" len="med"/>
                      <a:tailEnd type="none" w="med" len="med"/>
                    </a:lnR>
                    <a:lnT w="12700" cap="flat" cmpd="sng" algn="ctr">
                      <a:solidFill>
                        <a:srgbClr val="1F4BAE"/>
                      </a:solidFill>
                      <a:prstDash val="solid"/>
                      <a:round/>
                      <a:headEnd type="none" w="med" len="med"/>
                      <a:tailEnd type="none" w="med" len="med"/>
                    </a:lnT>
                    <a:lnB w="12700" cap="flat" cmpd="sng" algn="ctr">
                      <a:solidFill>
                        <a:srgbClr val="1F4BAE"/>
                      </a:solidFill>
                      <a:prstDash val="solid"/>
                      <a:round/>
                      <a:headEnd type="none" w="med" len="med"/>
                      <a:tailEnd type="none" w="med" len="med"/>
                    </a:lnB>
                  </a:tcPr>
                </a:tc>
                <a:tc>
                  <a:txBody>
                    <a:bodyPr/>
                    <a:lstStyle/>
                    <a:p>
                      <a:pPr indent="0" marL="0">
                        <a:buNone/>
                      </a:pPr>
                      <a:endParaRPr lang="en-US" sz="1450" dirty="0">
                        <a:latin typeface="Lexend" charset="0"/>
                        <a:ea typeface="Lexend" charset="0"/>
                        <a:cs typeface="Lexend" charset="0"/>
                      </a:endParaRPr>
                    </a:p>
                  </a:txBody>
                  <a:tcPr marL="137157" marR="137157" marT="73150" marB="73150" anchor="ctr">
                    <a:lnL w="12700" cap="flat" cmpd="sng" algn="ctr">
                      <a:solidFill>
                        <a:srgbClr val="15154C"/>
                      </a:solidFill>
                      <a:prstDash val="solid"/>
                      <a:round/>
                      <a:headEnd type="none" w="med" len="med"/>
                      <a:tailEnd type="none" w="med" len="med"/>
                    </a:lnL>
                    <a:lnR w="12700" cap="flat" cmpd="sng" algn="ctr">
                      <a:solidFill>
                        <a:srgbClr val="15154C"/>
                      </a:solidFill>
                      <a:prstDash val="solid"/>
                      <a:round/>
                      <a:headEnd type="none" w="med" len="med"/>
                      <a:tailEnd type="none" w="med" len="med"/>
                    </a:lnR>
                    <a:lnT w="12700" cap="flat" cmpd="sng" algn="ctr">
                      <a:solidFill>
                        <a:srgbClr val="1F4BAE"/>
                      </a:solidFill>
                      <a:prstDash val="solid"/>
                      <a:round/>
                      <a:headEnd type="none" w="med" len="med"/>
                      <a:tailEnd type="none" w="med" len="med"/>
                    </a:lnT>
                    <a:lnB w="12700" cap="flat" cmpd="sng" algn="ctr">
                      <a:solidFill>
                        <a:srgbClr val="1F4BAE"/>
                      </a:solidFill>
                      <a:prstDash val="solid"/>
                      <a:round/>
                      <a:headEnd type="none" w="med" len="med"/>
                      <a:tailEnd type="none" w="med" len="med"/>
                    </a:lnB>
                  </a:tcPr>
                </a:tc>
                <a:tc>
                  <a:txBody>
                    <a:bodyPr/>
                    <a:lstStyle/>
                    <a:p>
                      <a:pPr indent="0" marL="0">
                        <a:buNone/>
                      </a:pPr>
                      <a:endParaRPr lang="en-US" sz="1450" dirty="0">
                        <a:latin typeface="Lexend" charset="0"/>
                        <a:ea typeface="Lexend" charset="0"/>
                        <a:cs typeface="Lexend" charset="0"/>
                      </a:endParaRPr>
                    </a:p>
                  </a:txBody>
                  <a:tcPr marL="137157" marR="137157" marT="73150" marB="73150" anchor="ctr">
                    <a:lnL w="12700" cap="flat" cmpd="sng" algn="ctr">
                      <a:solidFill>
                        <a:srgbClr val="15154C"/>
                      </a:solidFill>
                      <a:prstDash val="solid"/>
                      <a:round/>
                      <a:headEnd type="none" w="med" len="med"/>
                      <a:tailEnd type="none" w="med" len="med"/>
                    </a:lnL>
                    <a:lnR w="12700" cap="flat" cmpd="sng" algn="ctr">
                      <a:solidFill>
                        <a:srgbClr val="15154C"/>
                      </a:solidFill>
                      <a:prstDash val="solid"/>
                      <a:round/>
                      <a:headEnd type="none" w="med" len="med"/>
                      <a:tailEnd type="none" w="med" len="med"/>
                    </a:lnR>
                    <a:lnT w="12700" cap="flat" cmpd="sng" algn="ctr">
                      <a:solidFill>
                        <a:srgbClr val="1F4BAE"/>
                      </a:solidFill>
                      <a:prstDash val="solid"/>
                      <a:round/>
                      <a:headEnd type="none" w="med" len="med"/>
                      <a:tailEnd type="none" w="med" len="med"/>
                    </a:lnT>
                    <a:lnB w="12700" cap="flat" cmpd="sng" algn="ctr">
                      <a:solidFill>
                        <a:srgbClr val="1F4BAE"/>
                      </a:solidFill>
                      <a:prstDash val="solid"/>
                      <a:round/>
                      <a:headEnd type="none" w="med" len="med"/>
                      <a:tailEnd type="none" w="med" len="med"/>
                    </a:lnB>
                  </a:tcPr>
                </a:tc>
                <a:tc>
                  <a:txBody>
                    <a:bodyPr/>
                    <a:lstStyle/>
                    <a:p>
                      <a:pPr algn="l" indent="0" marL="0">
                        <a:buNone/>
                      </a:pPr>
                      <a:r>
                        <a:rPr lang="en-US" sz="1450" dirty="0">
                          <a:solidFill>
                            <a:srgbClr val="E6E9FF"/>
                          </a:solidFill>
                          <a:latin typeface="Lexend" pitchFamily="34" charset="0"/>
                          <a:ea typeface="Lexend" pitchFamily="34" charset="-122"/>
                          <a:cs typeface="Lexend" pitchFamily="34" charset="-120"/>
                        </a:rPr>
                        <a:t>Invalid option or malformed numeric input</a:t>
                      </a:r>
                      <a:endParaRPr lang="en-US" sz="1450" dirty="0">
                        <a:latin typeface="Lexend" charset="0"/>
                        <a:ea typeface="Lexend" charset="0"/>
                        <a:cs typeface="Lexend" charset="0"/>
                      </a:endParaRPr>
                    </a:p>
                  </a:txBody>
                  <a:tcPr marL="137157" marR="137157" marT="73150" marB="73150" anchor="ctr">
                    <a:lnL w="12700" cap="flat" cmpd="sng" algn="ctr">
                      <a:solidFill>
                        <a:srgbClr val="15154C"/>
                      </a:solidFill>
                      <a:prstDash val="solid"/>
                      <a:round/>
                      <a:headEnd type="none" w="med" len="med"/>
                      <a:tailEnd type="none" w="med" len="med"/>
                    </a:lnL>
                    <a:lnR w="12700" cap="flat" cmpd="sng" algn="ctr">
                      <a:solidFill>
                        <a:srgbClr val="15154C"/>
                      </a:solidFill>
                      <a:prstDash val="solid"/>
                      <a:round/>
                      <a:headEnd type="none" w="med" len="med"/>
                      <a:tailEnd type="none" w="med" len="med"/>
                    </a:lnR>
                    <a:lnT w="12700" cap="flat" cmpd="sng" algn="ctr">
                      <a:solidFill>
                        <a:srgbClr val="1F4BAE"/>
                      </a:solidFill>
                      <a:prstDash val="solid"/>
                      <a:round/>
                      <a:headEnd type="none" w="med" len="med"/>
                      <a:tailEnd type="none" w="med" len="med"/>
                    </a:lnT>
                    <a:lnB w="12700" cap="flat" cmpd="sng" algn="ctr">
                      <a:solidFill>
                        <a:srgbClr val="1F4BAE"/>
                      </a:solidFill>
                      <a:prstDash val="solid"/>
                      <a:round/>
                      <a:headEnd type="none" w="med" len="med"/>
                      <a:tailEnd type="none" w="med" len="med"/>
                    </a:lnB>
                  </a:tcPr>
                </a:tc>
                <a:tc>
                  <a:txBody>
                    <a:bodyPr/>
                    <a:lstStyle/>
                    <a:p>
                      <a:pPr algn="l" indent="0" marL="0">
                        <a:buNone/>
                      </a:pPr>
                      <a:r>
                        <a:rPr lang="en-US" sz="1450" dirty="0">
                          <a:solidFill>
                            <a:srgbClr val="E6E9FF"/>
                          </a:solidFill>
                          <a:latin typeface="Lexend" pitchFamily="34" charset="0"/>
                          <a:ea typeface="Lexend" pitchFamily="34" charset="-122"/>
                          <a:cs typeface="Lexend" pitchFamily="34" charset="-120"/>
                        </a:rPr>
                        <a:t>Ask for a valid choice and continue</a:t>
                      </a:r>
                      <a:endParaRPr lang="en-US" sz="1450" dirty="0">
                        <a:latin typeface="Lexend" charset="0"/>
                        <a:ea typeface="Lexend" charset="0"/>
                        <a:cs typeface="Lexend" charset="0"/>
                      </a:endParaRPr>
                    </a:p>
                  </a:txBody>
                  <a:tcPr marL="137157" marR="137157" marT="73150" marB="73150" anchor="ctr">
                    <a:lnL w="12700" cap="flat" cmpd="sng" algn="ctr">
                      <a:solidFill>
                        <a:srgbClr val="15154C"/>
                      </a:solidFill>
                      <a:prstDash val="solid"/>
                      <a:round/>
                      <a:headEnd type="none" w="med" len="med"/>
                      <a:tailEnd type="none" w="med" len="med"/>
                    </a:lnL>
                    <a:lnR w="12700" cap="flat" cmpd="sng" algn="ctr">
                      <a:solidFill>
                        <a:srgbClr val="15154C"/>
                      </a:solidFill>
                      <a:prstDash val="solid"/>
                      <a:round/>
                      <a:headEnd type="none" w="med" len="med"/>
                      <a:tailEnd type="none" w="med" len="med"/>
                    </a:lnR>
                    <a:lnT w="12700" cap="flat" cmpd="sng" algn="ctr">
                      <a:solidFill>
                        <a:srgbClr val="1F4BAE"/>
                      </a:solidFill>
                      <a:prstDash val="solid"/>
                      <a:round/>
                      <a:headEnd type="none" w="med" len="med"/>
                      <a:tailEnd type="none" w="med" len="med"/>
                    </a:lnT>
                    <a:lnB w="12700" cap="flat" cmpd="sng" algn="ctr">
                      <a:solidFill>
                        <a:srgbClr val="1F4BAE"/>
                      </a:solidFill>
                      <a:prstDash val="solid"/>
                      <a:round/>
                      <a:headEnd type="none" w="med" len="med"/>
                      <a:tailEnd type="none" w="med" len="med"/>
                    </a:lnB>
                  </a:tcPr>
                </a:tc>
              </a:tr>
              <a:tr h="547475">
                <a:tc>
                  <a:txBody>
                    <a:bodyPr/>
                    <a:lstStyle/>
                    <a:p>
                      <a:pPr algn="l" indent="0" marL="0">
                        <a:buNone/>
                      </a:pPr>
                      <a:r>
                        <a:rPr lang="en-US" sz="1450" dirty="0">
                          <a:solidFill>
                            <a:srgbClr val="E6E9FF"/>
                          </a:solidFill>
                          <a:latin typeface="Lexend" pitchFamily="34" charset="0"/>
                          <a:ea typeface="Lexend" pitchFamily="34" charset="-122"/>
                          <a:cs typeface="Lexend" pitchFamily="34" charset="-120"/>
                        </a:rPr>
                        <a:t>Course data</a:t>
                      </a:r>
                      <a:endParaRPr lang="en-US" sz="1450" dirty="0">
                        <a:latin typeface="Lexend" charset="0"/>
                        <a:ea typeface="Lexend" charset="0"/>
                        <a:cs typeface="Lexend" charset="0"/>
                      </a:endParaRPr>
                    </a:p>
                  </a:txBody>
                  <a:tcPr marL="137157" marR="137157" marT="73150" marB="73150" anchor="ctr">
                    <a:lnL w="12700" cap="flat" cmpd="sng" algn="ctr">
                      <a:solidFill>
                        <a:srgbClr val="15154C"/>
                      </a:solidFill>
                      <a:prstDash val="solid"/>
                      <a:round/>
                      <a:headEnd type="none" w="med" len="med"/>
                      <a:tailEnd type="none" w="med" len="med"/>
                    </a:lnL>
                    <a:lnR w="12700" cap="flat" cmpd="sng" algn="ctr">
                      <a:solidFill>
                        <a:srgbClr val="15154C"/>
                      </a:solidFill>
                      <a:prstDash val="solid"/>
                      <a:round/>
                      <a:headEnd type="none" w="med" len="med"/>
                      <a:tailEnd type="none" w="med" len="med"/>
                    </a:lnR>
                    <a:lnT w="12700" cap="flat" cmpd="sng" algn="ctr">
                      <a:solidFill>
                        <a:srgbClr val="1F4BAE"/>
                      </a:solidFill>
                      <a:prstDash val="solid"/>
                      <a:round/>
                      <a:headEnd type="none" w="med" len="med"/>
                      <a:tailEnd type="none" w="med" len="med"/>
                    </a:lnT>
                    <a:lnB w="12700" cap="flat" cmpd="sng" algn="ctr">
                      <a:solidFill>
                        <a:srgbClr val="1F4BAE"/>
                      </a:solidFill>
                      <a:prstDash val="solid"/>
                      <a:round/>
                      <a:headEnd type="none" w="med" len="med"/>
                      <a:tailEnd type="none" w="med" len="med"/>
                    </a:lnB>
                  </a:tcPr>
                </a:tc>
                <a:tc>
                  <a:txBody>
                    <a:bodyPr/>
                    <a:lstStyle/>
                    <a:p>
                      <a:pPr algn="l" indent="0" marL="0">
                        <a:buNone/>
                      </a:pPr>
                      <a:r>
                        <a:rPr lang="en-US" sz="1450" dirty="0">
                          <a:solidFill>
                            <a:srgbClr val="E6E9FF"/>
                          </a:solidFill>
                          <a:latin typeface="Lexend" pitchFamily="34" charset="0"/>
                          <a:ea typeface="Lexend" pitchFamily="34" charset="-122"/>
                          <a:cs typeface="Lexend" pitchFamily="34" charset="-120"/>
                        </a:rPr>
                        <a:t>Invalid course ID or duplicate registration</a:t>
                      </a:r>
                      <a:endParaRPr lang="en-US" sz="1450" dirty="0">
                        <a:latin typeface="Lexend" charset="0"/>
                        <a:ea typeface="Lexend" charset="0"/>
                        <a:cs typeface="Lexend" charset="0"/>
                      </a:endParaRPr>
                    </a:p>
                  </a:txBody>
                  <a:tcPr marL="137157" marR="137157" marT="73150" marB="73150" anchor="ctr">
                    <a:lnL w="12700" cap="flat" cmpd="sng" algn="ctr">
                      <a:solidFill>
                        <a:srgbClr val="15154C"/>
                      </a:solidFill>
                      <a:prstDash val="solid"/>
                      <a:round/>
                      <a:headEnd type="none" w="med" len="med"/>
                      <a:tailEnd type="none" w="med" len="med"/>
                    </a:lnL>
                    <a:lnR w="12700" cap="flat" cmpd="sng" algn="ctr">
                      <a:solidFill>
                        <a:srgbClr val="15154C"/>
                      </a:solidFill>
                      <a:prstDash val="solid"/>
                      <a:round/>
                      <a:headEnd type="none" w="med" len="med"/>
                      <a:tailEnd type="none" w="med" len="med"/>
                    </a:lnR>
                    <a:lnT w="12700" cap="flat" cmpd="sng" algn="ctr">
                      <a:solidFill>
                        <a:srgbClr val="1F4BAE"/>
                      </a:solidFill>
                      <a:prstDash val="solid"/>
                      <a:round/>
                      <a:headEnd type="none" w="med" len="med"/>
                      <a:tailEnd type="none" w="med" len="med"/>
                    </a:lnT>
                    <a:lnB w="12700" cap="flat" cmpd="sng" algn="ctr">
                      <a:solidFill>
                        <a:srgbClr val="1F4BAE"/>
                      </a:solidFill>
                      <a:prstDash val="solid"/>
                      <a:round/>
                      <a:headEnd type="none" w="med" len="med"/>
                      <a:tailEnd type="none" w="med" len="med"/>
                    </a:lnB>
                  </a:tcPr>
                </a:tc>
                <a:tc>
                  <a:txBody>
                    <a:bodyPr/>
                    <a:lstStyle/>
                    <a:p>
                      <a:pPr algn="l" indent="0" marL="0">
                        <a:buNone/>
                      </a:pPr>
                      <a:r>
                        <a:rPr lang="en-US" sz="1450" dirty="0">
                          <a:solidFill>
                            <a:srgbClr val="E6E9FF"/>
                          </a:solidFill>
                          <a:latin typeface="Lexend" pitchFamily="34" charset="0"/>
                          <a:ea typeface="Lexend" pitchFamily="34" charset="-122"/>
                          <a:cs typeface="Lexend" pitchFamily="34" charset="-120"/>
                        </a:rPr>
                        <a:t>Show an error before changing records</a:t>
                      </a:r>
                      <a:endParaRPr lang="en-US" sz="1450" dirty="0">
                        <a:latin typeface="Lexend" charset="0"/>
                        <a:ea typeface="Lexend" charset="0"/>
                        <a:cs typeface="Lexend" charset="0"/>
                      </a:endParaRPr>
                    </a:p>
                  </a:txBody>
                  <a:tcPr marL="137157" marR="137157" marT="73150" marB="73150" anchor="ctr">
                    <a:lnL w="12700" cap="flat" cmpd="sng" algn="ctr">
                      <a:solidFill>
                        <a:srgbClr val="15154C"/>
                      </a:solidFill>
                      <a:prstDash val="solid"/>
                      <a:round/>
                      <a:headEnd type="none" w="med" len="med"/>
                      <a:tailEnd type="none" w="med" len="med"/>
                    </a:lnL>
                    <a:lnR w="12700" cap="flat" cmpd="sng" algn="ctr">
                      <a:solidFill>
                        <a:srgbClr val="15154C"/>
                      </a:solidFill>
                      <a:prstDash val="solid"/>
                      <a:round/>
                      <a:headEnd type="none" w="med" len="med"/>
                      <a:tailEnd type="none" w="med" len="med"/>
                    </a:lnR>
                    <a:lnT w="12700" cap="flat" cmpd="sng" algn="ctr">
                      <a:solidFill>
                        <a:srgbClr val="1F4BAE"/>
                      </a:solidFill>
                      <a:prstDash val="solid"/>
                      <a:round/>
                      <a:headEnd type="none" w="med" len="med"/>
                      <a:tailEnd type="none" w="med" len="med"/>
                    </a:lnT>
                    <a:lnB w="12700" cap="flat" cmpd="sng" algn="ctr">
                      <a:solidFill>
                        <a:srgbClr val="1F4BAE"/>
                      </a:solidFill>
                      <a:prstDash val="solid"/>
                      <a:round/>
                      <a:headEnd type="none" w="med" len="med"/>
                      <a:tailEnd type="none" w="med" len="med"/>
                    </a:lnB>
                  </a:tcPr>
                </a:tc>
                <a:tc>
                  <a:txBody>
                    <a:bodyPr/>
                    <a:lstStyle/>
                    <a:p>
                      <a:pPr indent="0" marL="0">
                        <a:buNone/>
                      </a:pPr>
                      <a:endParaRPr lang="en-US" sz="1450" dirty="0">
                        <a:latin typeface="Lexend" charset="0"/>
                        <a:ea typeface="Lexend" charset="0"/>
                        <a:cs typeface="Lexend" charset="0"/>
                      </a:endParaRPr>
                    </a:p>
                  </a:txBody>
                  <a:tcPr marL="137157" marR="137157" marT="73150" marB="73150" anchor="ctr">
                    <a:lnL w="12700" cap="flat" cmpd="sng" algn="ctr">
                      <a:solidFill>
                        <a:srgbClr val="15154C"/>
                      </a:solidFill>
                      <a:prstDash val="solid"/>
                      <a:round/>
                      <a:headEnd type="none" w="med" len="med"/>
                      <a:tailEnd type="none" w="med" len="med"/>
                    </a:lnL>
                    <a:lnR w="12700" cap="flat" cmpd="sng" algn="ctr">
                      <a:solidFill>
                        <a:srgbClr val="15154C"/>
                      </a:solidFill>
                      <a:prstDash val="solid"/>
                      <a:round/>
                      <a:headEnd type="none" w="med" len="med"/>
                      <a:tailEnd type="none" w="med" len="med"/>
                    </a:lnR>
                    <a:lnT w="12700" cap="flat" cmpd="sng" algn="ctr">
                      <a:solidFill>
                        <a:srgbClr val="1F4BAE"/>
                      </a:solidFill>
                      <a:prstDash val="solid"/>
                      <a:round/>
                      <a:headEnd type="none" w="med" len="med"/>
                      <a:tailEnd type="none" w="med" len="med"/>
                    </a:lnT>
                    <a:lnB w="12700" cap="flat" cmpd="sng" algn="ctr">
                      <a:solidFill>
                        <a:srgbClr val="1F4BAE"/>
                      </a:solidFill>
                      <a:prstDash val="solid"/>
                      <a:round/>
                      <a:headEnd type="none" w="med" len="med"/>
                      <a:tailEnd type="none" w="med" len="med"/>
                    </a:lnB>
                  </a:tcPr>
                </a:tc>
                <a:tc>
                  <a:txBody>
                    <a:bodyPr/>
                    <a:lstStyle/>
                    <a:p>
                      <a:pPr indent="0" marL="0">
                        <a:buNone/>
                      </a:pPr>
                      <a:endParaRPr lang="en-US" sz="1450" dirty="0">
                        <a:latin typeface="Lexend" charset="0"/>
                        <a:ea typeface="Lexend" charset="0"/>
                        <a:cs typeface="Lexend" charset="0"/>
                      </a:endParaRPr>
                    </a:p>
                  </a:txBody>
                  <a:tcPr marL="137157" marR="137157" marT="73150" marB="73150" anchor="ctr">
                    <a:lnL w="12700" cap="flat" cmpd="sng" algn="ctr">
                      <a:solidFill>
                        <a:srgbClr val="15154C"/>
                      </a:solidFill>
                      <a:prstDash val="solid"/>
                      <a:round/>
                      <a:headEnd type="none" w="med" len="med"/>
                      <a:tailEnd type="none" w="med" len="med"/>
                    </a:lnL>
                    <a:lnR w="12700" cap="flat" cmpd="sng" algn="ctr">
                      <a:solidFill>
                        <a:srgbClr val="15154C"/>
                      </a:solidFill>
                      <a:prstDash val="solid"/>
                      <a:round/>
                      <a:headEnd type="none" w="med" len="med"/>
                      <a:tailEnd type="none" w="med" len="med"/>
                    </a:lnR>
                    <a:lnT w="12700" cap="flat" cmpd="sng" algn="ctr">
                      <a:solidFill>
                        <a:srgbClr val="1F4BAE"/>
                      </a:solidFill>
                      <a:prstDash val="solid"/>
                      <a:round/>
                      <a:headEnd type="none" w="med" len="med"/>
                      <a:tailEnd type="none" w="med" len="med"/>
                    </a:lnT>
                    <a:lnB w="12700" cap="flat" cmpd="sng" algn="ctr">
                      <a:solidFill>
                        <a:srgbClr val="1F4BAE"/>
                      </a:solidFill>
                      <a:prstDash val="solid"/>
                      <a:round/>
                      <a:headEnd type="none" w="med" len="med"/>
                      <a:tailEnd type="none" w="med" len="med"/>
                    </a:lnB>
                  </a:tcPr>
                </a:tc>
              </a:tr>
              <a:tr h="547475">
                <a:tc>
                  <a:txBody>
                    <a:bodyPr/>
                    <a:lstStyle/>
                    <a:p>
                      <a:pPr algn="l" indent="0" marL="0">
                        <a:buNone/>
                      </a:pPr>
                      <a:r>
                        <a:rPr lang="en-US" sz="1450" dirty="0">
                          <a:solidFill>
                            <a:srgbClr val="E6E9FF"/>
                          </a:solidFill>
                          <a:latin typeface="Lexend" pitchFamily="34" charset="0"/>
                          <a:ea typeface="Lexend" pitchFamily="34" charset="-122"/>
                          <a:cs typeface="Lexend" pitchFamily="34" charset="-120"/>
                        </a:rPr>
                        <a:t>Timetable</a:t>
                      </a:r>
                      <a:endParaRPr lang="en-US" sz="1450" dirty="0">
                        <a:latin typeface="Lexend" charset="0"/>
                        <a:ea typeface="Lexend" charset="0"/>
                        <a:cs typeface="Lexend" charset="0"/>
                      </a:endParaRPr>
                    </a:p>
                  </a:txBody>
                  <a:tcPr marL="137157" marR="137157" marT="73150" marB="73150" anchor="ctr">
                    <a:lnL w="12700" cap="flat" cmpd="sng" algn="ctr">
                      <a:solidFill>
                        <a:srgbClr val="15154C"/>
                      </a:solidFill>
                      <a:prstDash val="solid"/>
                      <a:round/>
                      <a:headEnd type="none" w="med" len="med"/>
                      <a:tailEnd type="none" w="med" len="med"/>
                    </a:lnL>
                    <a:lnR w="12700" cap="flat" cmpd="sng" algn="ctr">
                      <a:solidFill>
                        <a:srgbClr val="15154C"/>
                      </a:solidFill>
                      <a:prstDash val="solid"/>
                      <a:round/>
                      <a:headEnd type="none" w="med" len="med"/>
                      <a:tailEnd type="none" w="med" len="med"/>
                    </a:lnR>
                    <a:lnT w="12700" cap="flat" cmpd="sng" algn="ctr">
                      <a:solidFill>
                        <a:srgbClr val="1F4BAE"/>
                      </a:solidFill>
                      <a:prstDash val="solid"/>
                      <a:round/>
                      <a:headEnd type="none" w="med" len="med"/>
                      <a:tailEnd type="none" w="med" len="med"/>
                    </a:lnT>
                    <a:lnB w="12700" cap="flat" cmpd="sng" algn="ctr">
                      <a:solidFill>
                        <a:srgbClr val="1F4BAE"/>
                      </a:solidFill>
                      <a:prstDash val="solid"/>
                      <a:round/>
                      <a:headEnd type="none" w="med" len="med"/>
                      <a:tailEnd type="none" w="med" len="med"/>
                    </a:lnB>
                  </a:tcPr>
                </a:tc>
                <a:tc>
                  <a:txBody>
                    <a:bodyPr/>
                    <a:lstStyle/>
                    <a:p>
                      <a:pPr algn="l" indent="0" marL="0">
                        <a:buNone/>
                      </a:pPr>
                      <a:r>
                        <a:rPr lang="en-US" sz="1450" dirty="0">
                          <a:solidFill>
                            <a:srgbClr val="E6E9FF"/>
                          </a:solidFill>
                          <a:latin typeface="Lexend" pitchFamily="34" charset="0"/>
                          <a:ea typeface="Lexend" pitchFamily="34" charset="-122"/>
                          <a:cs typeface="Lexend" pitchFamily="34" charset="-120"/>
                        </a:rPr>
                        <a:t>Selected course overlaps an existing class</a:t>
                      </a:r>
                      <a:endParaRPr lang="en-US" sz="1450" dirty="0">
                        <a:latin typeface="Lexend" charset="0"/>
                        <a:ea typeface="Lexend" charset="0"/>
                        <a:cs typeface="Lexend" charset="0"/>
                      </a:endParaRPr>
                    </a:p>
                  </a:txBody>
                  <a:tcPr marL="137157" marR="137157" marT="73150" marB="73150" anchor="ctr">
                    <a:lnL w="12700" cap="flat" cmpd="sng" algn="ctr">
                      <a:solidFill>
                        <a:srgbClr val="15154C"/>
                      </a:solidFill>
                      <a:prstDash val="solid"/>
                      <a:round/>
                      <a:headEnd type="none" w="med" len="med"/>
                      <a:tailEnd type="none" w="med" len="med"/>
                    </a:lnL>
                    <a:lnR w="12700" cap="flat" cmpd="sng" algn="ctr">
                      <a:solidFill>
                        <a:srgbClr val="15154C"/>
                      </a:solidFill>
                      <a:prstDash val="solid"/>
                      <a:round/>
                      <a:headEnd type="none" w="med" len="med"/>
                      <a:tailEnd type="none" w="med" len="med"/>
                    </a:lnR>
                    <a:lnT w="12700" cap="flat" cmpd="sng" algn="ctr">
                      <a:solidFill>
                        <a:srgbClr val="1F4BAE"/>
                      </a:solidFill>
                      <a:prstDash val="solid"/>
                      <a:round/>
                      <a:headEnd type="none" w="med" len="med"/>
                      <a:tailEnd type="none" w="med" len="med"/>
                    </a:lnT>
                    <a:lnB w="12700" cap="flat" cmpd="sng" algn="ctr">
                      <a:solidFill>
                        <a:srgbClr val="1F4BAE"/>
                      </a:solidFill>
                      <a:prstDash val="solid"/>
                      <a:round/>
                      <a:headEnd type="none" w="med" len="med"/>
                      <a:tailEnd type="none" w="med" len="med"/>
                    </a:lnB>
                  </a:tcPr>
                </a:tc>
                <a:tc>
                  <a:txBody>
                    <a:bodyPr/>
                    <a:lstStyle/>
                    <a:p>
                      <a:pPr algn="l" indent="0" marL="0">
                        <a:buNone/>
                      </a:pPr>
                      <a:r>
                        <a:rPr lang="en-US" sz="1450" dirty="0">
                          <a:solidFill>
                            <a:srgbClr val="E6E9FF"/>
                          </a:solidFill>
                          <a:latin typeface="Lexend" pitchFamily="34" charset="0"/>
                          <a:ea typeface="Lexend" pitchFamily="34" charset="-122"/>
                          <a:cs typeface="Lexend" pitchFamily="34" charset="-120"/>
                        </a:rPr>
                        <a:t>Reject the course and keep the timetable unchanged</a:t>
                      </a:r>
                      <a:endParaRPr lang="en-US" sz="1450" dirty="0">
                        <a:latin typeface="Lexend" charset="0"/>
                        <a:ea typeface="Lexend" charset="0"/>
                        <a:cs typeface="Lexend" charset="0"/>
                      </a:endParaRPr>
                    </a:p>
                  </a:txBody>
                  <a:tcPr marL="137157" marR="137157" marT="73150" marB="73150" anchor="ctr">
                    <a:lnL w="12700" cap="flat" cmpd="sng" algn="ctr">
                      <a:solidFill>
                        <a:srgbClr val="15154C"/>
                      </a:solidFill>
                      <a:prstDash val="solid"/>
                      <a:round/>
                      <a:headEnd type="none" w="med" len="med"/>
                      <a:tailEnd type="none" w="med" len="med"/>
                    </a:lnL>
                    <a:lnR w="12700" cap="flat" cmpd="sng" algn="ctr">
                      <a:solidFill>
                        <a:srgbClr val="15154C"/>
                      </a:solidFill>
                      <a:prstDash val="solid"/>
                      <a:round/>
                      <a:headEnd type="none" w="med" len="med"/>
                      <a:tailEnd type="none" w="med" len="med"/>
                    </a:lnR>
                    <a:lnT w="12700" cap="flat" cmpd="sng" algn="ctr">
                      <a:solidFill>
                        <a:srgbClr val="1F4BAE"/>
                      </a:solidFill>
                      <a:prstDash val="solid"/>
                      <a:round/>
                      <a:headEnd type="none" w="med" len="med"/>
                      <a:tailEnd type="none" w="med" len="med"/>
                    </a:lnT>
                    <a:lnB w="12700" cap="flat" cmpd="sng" algn="ctr">
                      <a:solidFill>
                        <a:srgbClr val="1F4BAE"/>
                      </a:solidFill>
                      <a:prstDash val="solid"/>
                      <a:round/>
                      <a:headEnd type="none" w="med" len="med"/>
                      <a:tailEnd type="none" w="med" len="med"/>
                    </a:lnB>
                  </a:tcPr>
                </a:tc>
                <a:tc>
                  <a:txBody>
                    <a:bodyPr/>
                    <a:lstStyle/>
                    <a:p>
                      <a:pPr indent="0" marL="0">
                        <a:buNone/>
                      </a:pPr>
                      <a:endParaRPr lang="en-US" sz="1450" dirty="0">
                        <a:latin typeface="Lexend" charset="0"/>
                        <a:ea typeface="Lexend" charset="0"/>
                        <a:cs typeface="Lexend" charset="0"/>
                      </a:endParaRPr>
                    </a:p>
                  </a:txBody>
                  <a:tcPr marL="137157" marR="137157" marT="73150" marB="73150" anchor="ctr">
                    <a:lnL w="12700" cap="flat" cmpd="sng" algn="ctr">
                      <a:solidFill>
                        <a:srgbClr val="15154C"/>
                      </a:solidFill>
                      <a:prstDash val="solid"/>
                      <a:round/>
                      <a:headEnd type="none" w="med" len="med"/>
                      <a:tailEnd type="none" w="med" len="med"/>
                    </a:lnL>
                    <a:lnR w="12700" cap="flat" cmpd="sng" algn="ctr">
                      <a:solidFill>
                        <a:srgbClr val="15154C"/>
                      </a:solidFill>
                      <a:prstDash val="solid"/>
                      <a:round/>
                      <a:headEnd type="none" w="med" len="med"/>
                      <a:tailEnd type="none" w="med" len="med"/>
                    </a:lnR>
                    <a:lnT w="12700" cap="flat" cmpd="sng" algn="ctr">
                      <a:solidFill>
                        <a:srgbClr val="1F4BAE"/>
                      </a:solidFill>
                      <a:prstDash val="solid"/>
                      <a:round/>
                      <a:headEnd type="none" w="med" len="med"/>
                      <a:tailEnd type="none" w="med" len="med"/>
                    </a:lnT>
                    <a:lnB w="12700" cap="flat" cmpd="sng" algn="ctr">
                      <a:solidFill>
                        <a:srgbClr val="1F4BAE"/>
                      </a:solidFill>
                      <a:prstDash val="solid"/>
                      <a:round/>
                      <a:headEnd type="none" w="med" len="med"/>
                      <a:tailEnd type="none" w="med" len="med"/>
                    </a:lnB>
                  </a:tcPr>
                </a:tc>
                <a:tc>
                  <a:txBody>
                    <a:bodyPr/>
                    <a:lstStyle/>
                    <a:p>
                      <a:pPr indent="0" marL="0">
                        <a:buNone/>
                      </a:pPr>
                      <a:endParaRPr lang="en-US" sz="1450" dirty="0">
                        <a:latin typeface="Lexend" charset="0"/>
                        <a:ea typeface="Lexend" charset="0"/>
                        <a:cs typeface="Lexend" charset="0"/>
                      </a:endParaRPr>
                    </a:p>
                  </a:txBody>
                  <a:tcPr marL="137157" marR="137157" marT="73150" marB="73150" anchor="ctr">
                    <a:lnL w="12700" cap="flat" cmpd="sng" algn="ctr">
                      <a:solidFill>
                        <a:srgbClr val="15154C"/>
                      </a:solidFill>
                      <a:prstDash val="solid"/>
                      <a:round/>
                      <a:headEnd type="none" w="med" len="med"/>
                      <a:tailEnd type="none" w="med" len="med"/>
                    </a:lnL>
                    <a:lnR w="12700" cap="flat" cmpd="sng" algn="ctr">
                      <a:solidFill>
                        <a:srgbClr val="15154C"/>
                      </a:solidFill>
                      <a:prstDash val="solid"/>
                      <a:round/>
                      <a:headEnd type="none" w="med" len="med"/>
                      <a:tailEnd type="none" w="med" len="med"/>
                    </a:lnR>
                    <a:lnT w="12700" cap="flat" cmpd="sng" algn="ctr">
                      <a:solidFill>
                        <a:srgbClr val="1F4BAE"/>
                      </a:solidFill>
                      <a:prstDash val="solid"/>
                      <a:round/>
                      <a:headEnd type="none" w="med" len="med"/>
                      <a:tailEnd type="none" w="med" len="med"/>
                    </a:lnT>
                    <a:lnB w="12700" cap="flat" cmpd="sng" algn="ctr">
                      <a:solidFill>
                        <a:srgbClr val="1F4BAE"/>
                      </a:solidFill>
                      <a:prstDash val="solid"/>
                      <a:round/>
                      <a:headEnd type="none" w="med" len="med"/>
                      <a:tailEnd type="none" w="med" len="med"/>
                    </a:lnB>
                  </a:tcPr>
                </a:tc>
              </a:tr>
              <a:tr h="541126">
                <a:tc>
                  <a:txBody>
                    <a:bodyPr/>
                    <a:lstStyle/>
                    <a:p>
                      <a:pPr algn="l" indent="0" marL="0">
                        <a:buNone/>
                      </a:pPr>
                      <a:r>
                        <a:rPr lang="en-US" sz="1450" dirty="0">
                          <a:solidFill>
                            <a:srgbClr val="E6E9FF"/>
                          </a:solidFill>
                          <a:latin typeface="Lexend" pitchFamily="34" charset="0"/>
                          <a:ea typeface="Lexend" pitchFamily="34" charset="-122"/>
                          <a:cs typeface="Lexend" pitchFamily="34" charset="-120"/>
                        </a:rPr>
                        <a:t>File operation</a:t>
                      </a:r>
                      <a:endParaRPr lang="en-US" sz="1450" dirty="0">
                        <a:latin typeface="Lexend" charset="0"/>
                        <a:ea typeface="Lexend" charset="0"/>
                        <a:cs typeface="Lexend" charset="0"/>
                      </a:endParaRPr>
                    </a:p>
                  </a:txBody>
                  <a:tcPr marL="137157" marR="137157" marT="73150" marB="73150" anchor="ctr">
                    <a:lnL w="12700" cap="flat" cmpd="sng" algn="ctr">
                      <a:solidFill>
                        <a:srgbClr val="15154C"/>
                      </a:solidFill>
                      <a:prstDash val="solid"/>
                      <a:round/>
                      <a:headEnd type="none" w="med" len="med"/>
                      <a:tailEnd type="none" w="med" len="med"/>
                    </a:lnL>
                    <a:lnR w="12700" cap="flat" cmpd="sng" algn="ctr">
                      <a:solidFill>
                        <a:srgbClr val="15154C"/>
                      </a:solidFill>
                      <a:prstDash val="solid"/>
                      <a:round/>
                      <a:headEnd type="none" w="med" len="med"/>
                      <a:tailEnd type="none" w="med" len="med"/>
                    </a:lnR>
                    <a:lnT w="12700" cap="flat" cmpd="sng" algn="ctr">
                      <a:solidFill>
                        <a:srgbClr val="1F4BAE"/>
                      </a:solidFill>
                      <a:prstDash val="solid"/>
                      <a:round/>
                      <a:headEnd type="none" w="med" len="med"/>
                      <a:tailEnd type="none" w="med" len="med"/>
                    </a:lnT>
                    <a:lnB w="12700" cap="flat" cmpd="sng" algn="ctr">
                      <a:solidFill>
                        <a:srgbClr val="15154C"/>
                      </a:solidFill>
                      <a:prstDash val="solid"/>
                      <a:round/>
                      <a:headEnd type="none" w="med" len="med"/>
                      <a:tailEnd type="none" w="med" len="med"/>
                    </a:lnB>
                  </a:tcPr>
                </a:tc>
                <a:tc>
                  <a:txBody>
                    <a:bodyPr/>
                    <a:lstStyle/>
                    <a:p>
                      <a:pPr algn="l" indent="0" marL="0">
                        <a:buNone/>
                      </a:pPr>
                      <a:r>
                        <a:rPr lang="en-US" sz="1450" dirty="0">
                          <a:solidFill>
                            <a:srgbClr val="E6E9FF"/>
                          </a:solidFill>
                          <a:latin typeface="Lexend" pitchFamily="34" charset="0"/>
                          <a:ea typeface="Lexend" pitchFamily="34" charset="-122"/>
                          <a:cs typeface="Lexend" pitchFamily="34" charset="-120"/>
                        </a:rPr>
                        <a:t>Registration record cannot be read or written</a:t>
                      </a:r>
                      <a:endParaRPr lang="en-US" sz="1450" dirty="0">
                        <a:latin typeface="Lexend" charset="0"/>
                        <a:ea typeface="Lexend" charset="0"/>
                        <a:cs typeface="Lexend" charset="0"/>
                      </a:endParaRPr>
                    </a:p>
                  </a:txBody>
                  <a:tcPr marL="137157" marR="137157" marT="73150" marB="73150" anchor="ctr">
                    <a:lnL w="12700" cap="flat" cmpd="sng" algn="ctr">
                      <a:solidFill>
                        <a:srgbClr val="15154C"/>
                      </a:solidFill>
                      <a:prstDash val="solid"/>
                      <a:round/>
                      <a:headEnd type="none" w="med" len="med"/>
                      <a:tailEnd type="none" w="med" len="med"/>
                    </a:lnL>
                    <a:lnR w="12700" cap="flat" cmpd="sng" algn="ctr">
                      <a:solidFill>
                        <a:srgbClr val="15154C"/>
                      </a:solidFill>
                      <a:prstDash val="solid"/>
                      <a:round/>
                      <a:headEnd type="none" w="med" len="med"/>
                      <a:tailEnd type="none" w="med" len="med"/>
                    </a:lnR>
                    <a:lnT w="12700" cap="flat" cmpd="sng" algn="ctr">
                      <a:solidFill>
                        <a:srgbClr val="1F4BAE"/>
                      </a:solidFill>
                      <a:prstDash val="solid"/>
                      <a:round/>
                      <a:headEnd type="none" w="med" len="med"/>
                      <a:tailEnd type="none" w="med" len="med"/>
                    </a:lnT>
                    <a:lnB w="12700" cap="flat" cmpd="sng" algn="ctr">
                      <a:solidFill>
                        <a:srgbClr val="15154C"/>
                      </a:solidFill>
                      <a:prstDash val="solid"/>
                      <a:round/>
                      <a:headEnd type="none" w="med" len="med"/>
                      <a:tailEnd type="none" w="med" len="med"/>
                    </a:lnB>
                  </a:tcPr>
                </a:tc>
                <a:tc>
                  <a:txBody>
                    <a:bodyPr/>
                    <a:lstStyle/>
                    <a:p>
                      <a:pPr algn="l" indent="0" marL="0">
                        <a:buNone/>
                      </a:pPr>
                      <a:r>
                        <a:rPr lang="en-US" sz="1450" dirty="0">
                          <a:solidFill>
                            <a:srgbClr val="E6E9FF"/>
                          </a:solidFill>
                          <a:latin typeface="Lexend" pitchFamily="34" charset="0"/>
                          <a:ea typeface="Lexend" pitchFamily="34" charset="-122"/>
                          <a:cs typeface="Lexend" pitchFamily="34" charset="-120"/>
                        </a:rPr>
                        <a:t>Handle IOException and report the issue</a:t>
                      </a:r>
                      <a:endParaRPr lang="en-US" sz="1450" dirty="0">
                        <a:latin typeface="Lexend" charset="0"/>
                        <a:ea typeface="Lexend" charset="0"/>
                        <a:cs typeface="Lexend" charset="0"/>
                      </a:endParaRPr>
                    </a:p>
                  </a:txBody>
                  <a:tcPr marL="137157" marR="137157" marT="73150" marB="73150" anchor="ctr">
                    <a:lnL w="12700" cap="flat" cmpd="sng" algn="ctr">
                      <a:solidFill>
                        <a:srgbClr val="15154C"/>
                      </a:solidFill>
                      <a:prstDash val="solid"/>
                      <a:round/>
                      <a:headEnd type="none" w="med" len="med"/>
                      <a:tailEnd type="none" w="med" len="med"/>
                    </a:lnL>
                    <a:lnR w="12700" cap="flat" cmpd="sng" algn="ctr">
                      <a:solidFill>
                        <a:srgbClr val="15154C"/>
                      </a:solidFill>
                      <a:prstDash val="solid"/>
                      <a:round/>
                      <a:headEnd type="none" w="med" len="med"/>
                      <a:tailEnd type="none" w="med" len="med"/>
                    </a:lnR>
                    <a:lnT w="12700" cap="flat" cmpd="sng" algn="ctr">
                      <a:solidFill>
                        <a:srgbClr val="1F4BAE"/>
                      </a:solidFill>
                      <a:prstDash val="solid"/>
                      <a:round/>
                      <a:headEnd type="none" w="med" len="med"/>
                      <a:tailEnd type="none" w="med" len="med"/>
                    </a:lnT>
                    <a:lnB w="12700" cap="flat" cmpd="sng" algn="ctr">
                      <a:solidFill>
                        <a:srgbClr val="15154C"/>
                      </a:solidFill>
                      <a:prstDash val="solid"/>
                      <a:round/>
                      <a:headEnd type="none" w="med" len="med"/>
                      <a:tailEnd type="none" w="med" len="med"/>
                    </a:lnB>
                  </a:tcPr>
                </a:tc>
                <a:tc>
                  <a:txBody>
                    <a:bodyPr/>
                    <a:lstStyle/>
                    <a:p>
                      <a:pPr indent="0" marL="0">
                        <a:buNone/>
                      </a:pPr>
                      <a:endParaRPr lang="en-US" sz="1450" dirty="0">
                        <a:latin typeface="Lexend" charset="0"/>
                        <a:ea typeface="Lexend" charset="0"/>
                        <a:cs typeface="Lexend" charset="0"/>
                      </a:endParaRPr>
                    </a:p>
                  </a:txBody>
                  <a:tcPr marL="137157" marR="137157" marT="73150" marB="73150" anchor="ctr">
                    <a:lnL w="12700" cap="flat" cmpd="sng" algn="ctr">
                      <a:solidFill>
                        <a:srgbClr val="15154C"/>
                      </a:solidFill>
                      <a:prstDash val="solid"/>
                      <a:round/>
                      <a:headEnd type="none" w="med" len="med"/>
                      <a:tailEnd type="none" w="med" len="med"/>
                    </a:lnL>
                    <a:lnR w="12700" cap="flat" cmpd="sng" algn="ctr">
                      <a:solidFill>
                        <a:srgbClr val="15154C"/>
                      </a:solidFill>
                      <a:prstDash val="solid"/>
                      <a:round/>
                      <a:headEnd type="none" w="med" len="med"/>
                      <a:tailEnd type="none" w="med" len="med"/>
                    </a:lnR>
                    <a:lnT w="12700" cap="flat" cmpd="sng" algn="ctr">
                      <a:solidFill>
                        <a:srgbClr val="1F4BAE"/>
                      </a:solidFill>
                      <a:prstDash val="solid"/>
                      <a:round/>
                      <a:headEnd type="none" w="med" len="med"/>
                      <a:tailEnd type="none" w="med" len="med"/>
                    </a:lnT>
                    <a:lnB w="12700" cap="flat" cmpd="sng" algn="ctr">
                      <a:solidFill>
                        <a:srgbClr val="15154C"/>
                      </a:solidFill>
                      <a:prstDash val="solid"/>
                      <a:round/>
                      <a:headEnd type="none" w="med" len="med"/>
                      <a:tailEnd type="none" w="med" len="med"/>
                    </a:lnB>
                  </a:tcPr>
                </a:tc>
                <a:tc>
                  <a:txBody>
                    <a:bodyPr/>
                    <a:lstStyle/>
                    <a:p>
                      <a:pPr indent="0" marL="0">
                        <a:buNone/>
                      </a:pPr>
                      <a:endParaRPr lang="en-US" sz="1450" dirty="0">
                        <a:latin typeface="Lexend" charset="0"/>
                        <a:ea typeface="Lexend" charset="0"/>
                        <a:cs typeface="Lexend" charset="0"/>
                      </a:endParaRPr>
                    </a:p>
                  </a:txBody>
                  <a:tcPr marL="137157" marR="137157" marT="73150" marB="73150" anchor="ctr">
                    <a:lnL w="12700" cap="flat" cmpd="sng" algn="ctr">
                      <a:solidFill>
                        <a:srgbClr val="15154C"/>
                      </a:solidFill>
                      <a:prstDash val="solid"/>
                      <a:round/>
                      <a:headEnd type="none" w="med" len="med"/>
                      <a:tailEnd type="none" w="med" len="med"/>
                    </a:lnL>
                    <a:lnR w="12700" cap="flat" cmpd="sng" algn="ctr">
                      <a:solidFill>
                        <a:srgbClr val="15154C"/>
                      </a:solidFill>
                      <a:prstDash val="solid"/>
                      <a:round/>
                      <a:headEnd type="none" w="med" len="med"/>
                      <a:tailEnd type="none" w="med" len="med"/>
                    </a:lnR>
                    <a:lnT w="12700" cap="flat" cmpd="sng" algn="ctr">
                      <a:solidFill>
                        <a:srgbClr val="1F4BAE"/>
                      </a:solidFill>
                      <a:prstDash val="solid"/>
                      <a:round/>
                      <a:headEnd type="none" w="med" len="med"/>
                      <a:tailEnd type="none" w="med" len="med"/>
                    </a:lnT>
                    <a:lnB w="12700" cap="flat" cmpd="sng" algn="ctr">
                      <a:solidFill>
                        <a:srgbClr val="15154C"/>
                      </a:solidFill>
                      <a:prstDash val="solid"/>
                      <a:round/>
                      <a:headEnd type="none" w="med" len="med"/>
                      <a:tailEnd type="none" w="med" len="med"/>
                    </a:lnB>
                  </a:tcPr>
                </a:tc>
              </a:tr>
            </a:tbl>
          </a:graphicData>
        </a:graphic>
      </p:graphicFrame>
      <p:sp>
        <p:nvSpPr>
          <p:cNvPr id="5" name="Shape 2"/>
          <p:cNvSpPr/>
          <p:nvPr/>
        </p:nvSpPr>
        <p:spPr>
          <a:xfrm>
            <a:off x="888978" y="4759821"/>
            <a:ext cx="10413739" cy="1828205"/>
          </a:xfrm>
          <a:prstGeom prst="roundRect">
            <a:avLst>
              <a:gd name="adj" fmla="val 4201"/>
            </a:avLst>
          </a:prstGeom>
          <a:solidFill>
            <a:srgbClr val="1E1F66"/>
          </a:solidFill>
          <a:ln/>
        </p:spPr>
      </p:sp>
      <p:sp>
        <p:nvSpPr>
          <p:cNvPr id="6" name="Text 3"/>
          <p:cNvSpPr/>
          <p:nvPr/>
        </p:nvSpPr>
        <p:spPr>
          <a:xfrm>
            <a:off x="1108345" y="4942681"/>
            <a:ext cx="9975005" cy="146248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FF7B72"/>
                </a:solidFill>
                <a:latin typeface="Consolas" pitchFamily="34" charset="0"/>
                <a:ea typeface="Consolas" pitchFamily="34" charset="-122"/>
                <a:cs typeface="Consolas" pitchFamily="34" charset="-120"/>
              </a:rPr>
              <a:t>try {</a:t>
            </a:r>
            <a:endParaRPr lang="en-US" sz="1450" dirty="0"/>
          </a:p>
          <a:p>
            <a:pPr algn="l" indent="0" marL="0">
              <a:lnSpc>
                <a:spcPct val="133000"/>
              </a:lnSpc>
              <a:buNone/>
            </a:pPr>
            <a:r>
              <a:rPr lang="en-US" sz="1450" dirty="0">
                <a:solidFill>
                  <a:srgbClr val="FF7B72"/>
                </a:solidFill>
                <a:latin typeface="Consolas" pitchFamily="34" charset="0"/>
                <a:ea typeface="Consolas" pitchFamily="34" charset="-122"/>
                <a:cs typeface="Consolas" pitchFamily="34" charset="-120"/>
              </a:rPr>
              <a:t>  int choice = Integer.parseInt(input);</a:t>
            </a:r>
            <a:endParaRPr lang="en-US" sz="1450" dirty="0"/>
          </a:p>
          <a:p>
            <a:pPr algn="l" indent="0" marL="0">
              <a:lnSpc>
                <a:spcPct val="133000"/>
              </a:lnSpc>
              <a:buNone/>
            </a:pPr>
            <a:r>
              <a:rPr lang="en-US" sz="1450" dirty="0">
                <a:solidFill>
                  <a:srgbClr val="FF7B72"/>
                </a:solidFill>
                <a:latin typeface="Consolas" pitchFamily="34" charset="0"/>
                <a:ea typeface="Consolas" pitchFamily="34" charset="-122"/>
                <a:cs typeface="Consolas" pitchFamily="34" charset="-120"/>
              </a:rPr>
              <a:t>} catch (NumberFormatException e) {</a:t>
            </a:r>
            <a:endParaRPr lang="en-US" sz="1450" dirty="0"/>
          </a:p>
          <a:p>
            <a:pPr algn="l" indent="0" marL="0">
              <a:lnSpc>
                <a:spcPct val="133000"/>
              </a:lnSpc>
              <a:buNone/>
            </a:pPr>
            <a:r>
              <a:rPr lang="en-US" sz="1450" dirty="0">
                <a:solidFill>
                  <a:srgbClr val="FF7B72"/>
                </a:solidFill>
                <a:latin typeface="Consolas" pitchFamily="34" charset="0"/>
                <a:ea typeface="Consolas" pitchFamily="34" charset="-122"/>
                <a:cs typeface="Consolas" pitchFamily="34" charset="-120"/>
              </a:rPr>
              <a:t>  System.out.println("Enter a valid number.");</a:t>
            </a:r>
            <a:endParaRPr lang="en-US" sz="1450" dirty="0"/>
          </a:p>
          <a:p>
            <a:pPr algn="l" indent="0" marL="0">
              <a:lnSpc>
                <a:spcPct val="133000"/>
              </a:lnSpc>
              <a:buNone/>
            </a:pPr>
            <a:r>
              <a:rPr lang="en-US" sz="1450" dirty="0">
                <a:solidFill>
                  <a:srgbClr val="FF7B72"/>
                </a:solidFill>
                <a:latin typeface="Consolas" pitchFamily="34" charset="0"/>
                <a:ea typeface="Consolas" pitchFamily="34" charset="-122"/>
                <a:cs typeface="Consolas" pitchFamily="34" charset="-120"/>
              </a:rPr>
              <a:t>}</a:t>
            </a:r>
            <a:endParaRPr lang="en-US" sz="1450" dirty="0"/>
          </a:p>
        </p:txBody>
      </p:sp>
      <p:sp>
        <p:nvSpPr>
          <p:cNvPr id="7" name="Text 4"/>
          <p:cNvSpPr/>
          <p:nvPr/>
        </p:nvSpPr>
        <p:spPr>
          <a:xfrm>
            <a:off x="609585" y="7098562"/>
            <a:ext cx="11582110" cy="138609"/>
          </a:xfrm>
          <a:prstGeom prst="rect">
            <a:avLst/>
          </a:prstGeom>
          <a:noFill/>
          <a:ln/>
        </p:spPr>
        <p:txBody>
          <a:bodyPr wrap="none" lIns="0" tIns="0" rIns="0" bIns="0" rtlCol="0" anchor="t"/>
          <a:lstStyle/>
          <a:p>
            <a:pPr algn="l" indent="0" marL="0">
              <a:lnSpc>
                <a:spcPct val="108000"/>
              </a:lnSpc>
              <a:buNone/>
            </a:pPr>
            <a:r>
              <a:rPr lang="en-US" sz="850" spc="8" kern="100" dirty="0">
                <a:solidFill>
                  <a:srgbClr val="B9BEEA"/>
                </a:solidFill>
                <a:latin typeface="Lexend" pitchFamily="34" charset="0"/>
                <a:ea typeface="Lexend" pitchFamily="34" charset="-122"/>
                <a:cs typeface="Lexend" pitchFamily="34" charset="-120"/>
              </a:rPr>
              <a:t>Distinguish compile-time errors, runtime exceptions, and logical errors. Testing results remain expected outcomes unless execution evidence is available.</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2026-10-16T04:59:21Z</dcterms:created>
  <dcterms:modified xsi:type="dcterms:W3CDTF">2026-10-16T04:59:21Z</dcterms:modified>
</cp:coreProperties>
</file>